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impact, not the product: students graduate without proof of real work; we change that while they are still studying.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each figure against the original TurkStat, World Bank and YÖK publications before submitting; age bands differ between series (15–24, 15–34), so they are not directly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product produces evidence that feeds the next: contributions become portfolio, portfolio becomes paid work, mentoring accelerates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traction slide: a real community and working software exist before any grant money. The grant moves FIRST and STEP from built to operating and opens INTO and PATH as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simple theory of change: the budget buys operational readiness and pilots; pilots produce verified experience; verified experience lowers the barrier to a first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Numeric targets can be added here once the programme's reporting format is 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global figure as context, not as our revenue claim. Our near-term reach is Turkish students; the open-source model is reusable elsewhere.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funders that care about openness: the software, the decision records and the community process are all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and STEP already exist as software, so most development money refines and integrates rather than builds from scratch. The largest share goes to making STEP legally and financially operable.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is the largest phase because paid work between students and employers needs a legal entity, tax and invoicing setup, and a payment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pilots. They validate the model before broader development; eligibility of prizes and incentives will be checked against the programme rules before spending.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separate monthly salary is included. Figures are planning estimates, not supplier quotations.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are taken from the team's public website (ack-techs.com). Add one line on relevant prior delivery if the form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risks openly builds trust with a grant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 and the single sentence of impact. Contact via ack-techs.com.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1"/>
          <p:cNvSpPr/>
          <p:nvPr/>
        </p:nvSpPr>
        <p:spPr>
          <a:xfrm>
            <a:off x="5760720" y="-822960"/>
            <a:ext cx="4754880" cy="4754880"/>
          </a:xfrm>
          <a:prstGeom prst="ellipse">
            <a:avLst/>
          </a:prstGeom>
          <a:solidFill>
            <a:srgbClr val="2DD4BF">
              <a:alpha val="16000"/>
            </a:srgbClr>
          </a:solidFill>
          <a:ln/>
        </p:spPr>
      </p:sp>
      <p:sp>
        <p:nvSpPr>
          <p:cNvPr id="3" name="glow 2"/>
          <p:cNvSpPr/>
          <p:nvPr/>
        </p:nvSpPr>
        <p:spPr>
          <a:xfrm>
            <a:off x="6766560" y="2377440"/>
            <a:ext cx="3291840" cy="3291840"/>
          </a:xfrm>
          <a:prstGeom prst="ellipse">
            <a:avLst/>
          </a:prstGeom>
          <a:solidFill>
            <a:srgbClr val="FFB02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4-PRODUCT ONE COMMUNITY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2344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Real experience for students, before they graduate.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ecosystem that turns university students into proven, employable talent.</a:t>
            </a:r>
            <a:endParaRPr lang="en-US" sz="1800" dirty="0"/>
          </a:p>
        </p:txBody>
      </p:sp>
      <p:sp>
        <p:nvSpPr>
          <p:cNvPr id="7" name="chip GRANT APPLICATION · €31,000"/>
          <p:cNvSpPr/>
          <p:nvPr/>
        </p:nvSpPr>
        <p:spPr>
          <a:xfrm>
            <a:off x="640080" y="420624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APPLICATION · €31,000</a:t>
            </a:r>
            <a:endParaRPr lang="en-US" sz="1000" dirty="0"/>
          </a:p>
        </p:txBody>
      </p:sp>
      <p:sp>
        <p:nvSpPr>
          <p:cNvPr id="9" name="chip Apache-2.0 · Open source"/>
          <p:cNvSpPr/>
          <p:nvPr/>
        </p:nvSpPr>
        <p:spPr>
          <a:xfrm>
            <a:off x="3154680" y="420624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1C2244"/>
          </a:solidFill>
          <a:ln w="12700">
            <a:solidFill>
              <a:srgbClr val="1C22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· 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generation is locked out of its first job</a:t>
            </a:r>
            <a:endParaRPr lang="en-US" sz="3000" dirty="0"/>
          </a:p>
        </p:txBody>
      </p:sp>
      <p:sp>
        <p:nvSpPr>
          <p:cNvPr id="3" name="stat card 0"/>
          <p:cNvSpPr/>
          <p:nvPr/>
        </p:nvSpPr>
        <p:spPr>
          <a:xfrm>
            <a:off x="54864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1C22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28.2%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aged 15–34 in Türkiye are neither in education nor employment (about 6.8 million, Q1 2026)</a:t>
            </a:r>
            <a:endParaRPr lang="en-US" sz="1200" dirty="0"/>
          </a:p>
        </p:txBody>
      </p:sp>
      <p:sp>
        <p:nvSpPr>
          <p:cNvPr id="6" name="stat card 1"/>
          <p:cNvSpPr/>
          <p:nvPr/>
        </p:nvSpPr>
        <p:spPr>
          <a:xfrm>
            <a:off x="329184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1C22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231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 (ages 15–24) in 2025</a:t>
            </a:r>
            <a:endParaRPr lang="en-US" sz="1200" dirty="0"/>
          </a:p>
        </p:txBody>
      </p:sp>
      <p:sp>
        <p:nvSpPr>
          <p:cNvPr id="9" name="stat card 2"/>
          <p:cNvSpPr/>
          <p:nvPr/>
        </p:nvSpPr>
        <p:spPr>
          <a:xfrm>
            <a:off x="603504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1C22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4231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 in Turkish higher education (2024–25, incl. open and distance learning)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ask for experience. Students have no way to get it. </a:t>
            </a:r>
            <a:pPr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automating the entry-level tasks that used to be the first rung.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TurkStat via press reports (NEET, Q1 2026); World Bank-based series (youth unemployment 2025); YÖK 2024–25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products, one student journey</a:t>
            </a:r>
            <a:endParaRPr lang="en-US" sz="3000" dirty="0"/>
          </a:p>
        </p:txBody>
      </p:sp>
      <p:sp>
        <p:nvSpPr>
          <p:cNvPr id="3" name="product card FIRST"/>
          <p:cNvSpPr/>
          <p:nvPr/>
        </p:nvSpPr>
        <p:spPr>
          <a:xfrm>
            <a:off x="548640" y="141732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4" name="FIRST badge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FIR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8765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together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projects, team building, visible contributions.</a:t>
            </a:r>
            <a:endParaRPr lang="en-US" sz="1200" dirty="0"/>
          </a:p>
        </p:txBody>
      </p:sp>
      <p:sp>
        <p:nvSpPr>
          <p:cNvPr id="9" name="chip LIVE"/>
          <p:cNvSpPr/>
          <p:nvPr/>
        </p:nvSpPr>
        <p:spPr>
          <a:xfrm>
            <a:off x="731520" y="40690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069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1" name="product card STEP"/>
          <p:cNvSpPr/>
          <p:nvPr/>
        </p:nvSpPr>
        <p:spPr>
          <a:xfrm>
            <a:off x="2560320" y="141732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12" name="STEP badge"/>
          <p:cNvSpPr/>
          <p:nvPr/>
        </p:nvSpPr>
        <p:spPr>
          <a:xfrm>
            <a:off x="2788920" y="164592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3" name="STE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52" y="178765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8892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first income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788920" y="30175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marketplace for verified students with payment protection.</a:t>
            </a:r>
            <a:endParaRPr lang="en-US" sz="1200" dirty="0"/>
          </a:p>
        </p:txBody>
      </p:sp>
      <p:sp>
        <p:nvSpPr>
          <p:cNvPr id="17" name="chip BUILT · PRE-LAUNCH"/>
          <p:cNvSpPr/>
          <p:nvPr/>
        </p:nvSpPr>
        <p:spPr>
          <a:xfrm>
            <a:off x="2743200" y="40690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743200" y="4069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PRE-LAUNCH</a:t>
            </a:r>
            <a:endParaRPr lang="en-US" sz="1000" dirty="0"/>
          </a:p>
        </p:txBody>
      </p:sp>
      <p:sp>
        <p:nvSpPr>
          <p:cNvPr id="19" name="product card INTO"/>
          <p:cNvSpPr/>
          <p:nvPr/>
        </p:nvSpPr>
        <p:spPr>
          <a:xfrm>
            <a:off x="4572000" y="141732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20" name="INTO badge"/>
          <p:cNvSpPr/>
          <p:nvPr/>
        </p:nvSpPr>
        <p:spPr>
          <a:xfrm>
            <a:off x="4800600" y="1645920"/>
            <a:ext cx="566928" cy="566928"/>
          </a:xfrm>
          <a:prstGeom prst="ellipse">
            <a:avLst/>
          </a:prstGeom>
          <a:solidFill>
            <a:srgbClr val="8B92FF"/>
          </a:solidFill>
          <a:ln/>
        </p:spPr>
      </p:sp>
      <p:pic>
        <p:nvPicPr>
          <p:cNvPr id="21" name="INT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1787652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0060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480060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mentors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800600" y="30175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and volunteer mentoring for projects and careers.</a:t>
            </a:r>
            <a:endParaRPr lang="en-US" sz="1200" dirty="0"/>
          </a:p>
        </p:txBody>
      </p:sp>
      <p:sp>
        <p:nvSpPr>
          <p:cNvPr id="25" name="chip PILOT PLANNED"/>
          <p:cNvSpPr/>
          <p:nvPr/>
        </p:nvSpPr>
        <p:spPr>
          <a:xfrm>
            <a:off x="4754880" y="40690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8B92FF"/>
          </a:solidFill>
          <a:ln w="12700">
            <a:solidFill>
              <a:srgbClr val="8B92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754880" y="4069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PLANNED</a:t>
            </a:r>
            <a:endParaRPr lang="en-US" sz="1000" dirty="0"/>
          </a:p>
        </p:txBody>
      </p:sp>
      <p:sp>
        <p:nvSpPr>
          <p:cNvPr id="27" name="product card PATH"/>
          <p:cNvSpPr/>
          <p:nvPr/>
        </p:nvSpPr>
        <p:spPr>
          <a:xfrm>
            <a:off x="6583680" y="141732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28" name="PATH badge"/>
          <p:cNvSpPr/>
          <p:nvPr/>
        </p:nvSpPr>
        <p:spPr>
          <a:xfrm>
            <a:off x="6812280" y="1645920"/>
            <a:ext cx="566928" cy="566928"/>
          </a:xfrm>
          <a:prstGeom prst="ellipse">
            <a:avLst/>
          </a:prstGeom>
          <a:solidFill>
            <a:srgbClr val="9AA3C7"/>
          </a:solidFill>
          <a:ln/>
        </p:spPr>
      </p:sp>
      <p:pic>
        <p:nvPicPr>
          <p:cNvPr id="29" name="PATH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1787652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81228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68122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real problems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812280" y="30175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 on real organisational challenges.</a:t>
            </a:r>
            <a:endParaRPr lang="en-US" sz="1200" dirty="0"/>
          </a:p>
        </p:txBody>
      </p:sp>
      <p:sp>
        <p:nvSpPr>
          <p:cNvPr id="33" name="chip PILOT PLANNED"/>
          <p:cNvSpPr/>
          <p:nvPr/>
        </p:nvSpPr>
        <p:spPr>
          <a:xfrm>
            <a:off x="6766560" y="40690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9AA3C7"/>
          </a:solidFill>
          <a:ln w="12700">
            <a:solidFill>
              <a:srgbClr val="9AA3C7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766560" y="4069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PLANNED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community already exists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members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contributors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tracks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Apache-2.0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licence</a:t>
            </a:r>
            <a:endParaRPr lang="en-US" sz="1300" dirty="0"/>
          </a:p>
        </p:txBody>
      </p:sp>
      <p:sp>
        <p:nvSpPr>
          <p:cNvPr id="11" name="live panel"/>
          <p:cNvSpPr/>
          <p:nvPr/>
        </p:nvSpPr>
        <p:spPr>
          <a:xfrm>
            <a:off x="548640" y="274320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C22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implemented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00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GitHub sign-in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linking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listings, applications, invitations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and task discovery</a:t>
            </a:r>
            <a:endParaRPr lang="en-US" sz="1300" dirty="0"/>
          </a:p>
        </p:txBody>
      </p:sp>
      <p:sp>
        <p:nvSpPr>
          <p:cNvPr id="14" name="step panel"/>
          <p:cNvSpPr/>
          <p:nvPr/>
        </p:nvSpPr>
        <p:spPr>
          <a:xfrm>
            <a:off x="4663440" y="274320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C22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— built, pre-launch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00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web app and desktop work tracker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and escrow-style payment logic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company setup and live payment provider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grant becomes impact</a:t>
            </a:r>
            <a:endParaRPr lang="en-US" sz="3000" dirty="0"/>
          </a:p>
        </p:txBody>
      </p:sp>
      <p:sp>
        <p:nvSpPr>
          <p:cNvPr id="3" name="impact col 0"/>
          <p:cNvSpPr/>
          <p:nvPr/>
        </p:nvSpPr>
        <p:spPr>
          <a:xfrm>
            <a:off x="548640" y="141732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4" name="impact dot 0"/>
          <p:cNvSpPr/>
          <p:nvPr/>
        </p:nvSpPr>
        <p:spPr>
          <a:xfrm>
            <a:off x="731520" y="1600200"/>
            <a:ext cx="310896" cy="310896"/>
          </a:xfrm>
          <a:prstGeom prst="ellipse">
            <a:avLst/>
          </a:prstGeom>
          <a:solidFill>
            <a:srgbClr val="5B63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€31,000 grant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hours of team work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FIRST and STEP code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member community</a:t>
            </a:r>
            <a:endParaRPr lang="en-US" sz="1200" dirty="0"/>
          </a:p>
        </p:txBody>
      </p:sp>
      <p:sp>
        <p:nvSpPr>
          <p:cNvPr id="7" name="impact col 1"/>
          <p:cNvSpPr/>
          <p:nvPr/>
        </p:nvSpPr>
        <p:spPr>
          <a:xfrm>
            <a:off x="2560320" y="141732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8" name="impact dot 1"/>
          <p:cNvSpPr/>
          <p:nvPr/>
        </p:nvSpPr>
        <p:spPr>
          <a:xfrm>
            <a:off x="2743200" y="1600200"/>
            <a:ext cx="310896" cy="310896"/>
          </a:xfrm>
          <a:prstGeom prst="ellipse">
            <a:avLst/>
          </a:prstGeom>
          <a:solidFill>
            <a:srgbClr val="8B92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54680" y="1600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FIRST community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STEP legally and financially ready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INTO mentoring pilot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first PATH challenge</a:t>
            </a:r>
            <a:endParaRPr lang="en-US" sz="1200" dirty="0"/>
          </a:p>
        </p:txBody>
      </p:sp>
      <p:sp>
        <p:nvSpPr>
          <p:cNvPr id="11" name="impact col 2"/>
          <p:cNvSpPr/>
          <p:nvPr/>
        </p:nvSpPr>
        <p:spPr>
          <a:xfrm>
            <a:off x="4572000" y="141732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12" name="impact dot 2"/>
          <p:cNvSpPr/>
          <p:nvPr/>
        </p:nvSpPr>
        <p:spPr>
          <a:xfrm>
            <a:off x="4754880" y="160020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66360" y="1600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 a verified work history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assignments for students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access beyond personal networks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see real work</a:t>
            </a:r>
            <a:endParaRPr lang="en-US" sz="1200" dirty="0"/>
          </a:p>
        </p:txBody>
      </p:sp>
      <p:sp>
        <p:nvSpPr>
          <p:cNvPr id="15" name="impact col 3"/>
          <p:cNvSpPr/>
          <p:nvPr/>
        </p:nvSpPr>
        <p:spPr>
          <a:xfrm>
            <a:off x="6583680" y="141732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16" name="impact dot 3"/>
          <p:cNvSpPr/>
          <p:nvPr/>
        </p:nvSpPr>
        <p:spPr>
          <a:xfrm>
            <a:off x="6766560" y="1600200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1600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IMPACT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barrier to a first job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ready for industry on graduation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open-source model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How we will measure impact</a:t>
            </a:r>
            <a:endParaRPr lang="en-US" sz="3000" dirty="0"/>
          </a:p>
        </p:txBody>
      </p:sp>
      <p:sp>
        <p:nvSpPr>
          <p:cNvPr id="3" name="indicator card 0"/>
          <p:cNvSpPr/>
          <p:nvPr/>
        </p:nvSpPr>
        <p:spPr>
          <a:xfrm>
            <a:off x="548640" y="137160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1C2244"/>
          </a:solidFill>
          <a:ln/>
        </p:spPr>
      </p:sp>
      <p:sp>
        <p:nvSpPr>
          <p:cNvPr id="4" name="indicator 0 badge"/>
          <p:cNvSpPr/>
          <p:nvPr/>
        </p:nvSpPr>
        <p:spPr>
          <a:xfrm>
            <a:off x="777240" y="1719072"/>
            <a:ext cx="621792" cy="621792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ndicator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7452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36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01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projects, accepted contributions, teams formed</a:t>
            </a:r>
            <a:endParaRPr lang="en-US" sz="1200" dirty="0"/>
          </a:p>
        </p:txBody>
      </p:sp>
      <p:sp>
        <p:nvSpPr>
          <p:cNvPr id="8" name="indicator card 1"/>
          <p:cNvSpPr/>
          <p:nvPr/>
        </p:nvSpPr>
        <p:spPr>
          <a:xfrm>
            <a:off x="4572000" y="137160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1C2244"/>
          </a:solidFill>
          <a:ln/>
        </p:spPr>
      </p:sp>
      <p:sp>
        <p:nvSpPr>
          <p:cNvPr id="9" name="indicator 1 badge"/>
          <p:cNvSpPr/>
          <p:nvPr/>
        </p:nvSpPr>
        <p:spPr>
          <a:xfrm>
            <a:off x="4800600" y="1719072"/>
            <a:ext cx="621792" cy="62179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0" name="indicator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87452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536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901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pilot assignments completed, first-time student earners, employer repeat use</a:t>
            </a:r>
            <a:endParaRPr lang="en-US" sz="1200" dirty="0"/>
          </a:p>
        </p:txBody>
      </p:sp>
      <p:sp>
        <p:nvSpPr>
          <p:cNvPr id="13" name="indicator card 2"/>
          <p:cNvSpPr/>
          <p:nvPr/>
        </p:nvSpPr>
        <p:spPr>
          <a:xfrm>
            <a:off x="548640" y="283464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1C2244"/>
          </a:solidFill>
          <a:ln/>
        </p:spPr>
      </p:sp>
      <p:sp>
        <p:nvSpPr>
          <p:cNvPr id="14" name="indicator 2 badge"/>
          <p:cNvSpPr/>
          <p:nvPr/>
        </p:nvSpPr>
        <p:spPr>
          <a:xfrm>
            <a:off x="777240" y="3182112"/>
            <a:ext cx="621792" cy="621792"/>
          </a:xfrm>
          <a:prstGeom prst="ellipse">
            <a:avLst/>
          </a:prstGeom>
          <a:solidFill>
            <a:srgbClr val="8B92FF"/>
          </a:solidFill>
          <a:ln/>
        </p:spPr>
      </p:sp>
      <p:pic>
        <p:nvPicPr>
          <p:cNvPr id="15" name="indicator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33756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onboarded, sessions and project reviews held, mentee feedback</a:t>
            </a:r>
            <a:endParaRPr lang="en-US" sz="1200" dirty="0"/>
          </a:p>
        </p:txBody>
      </p:sp>
      <p:sp>
        <p:nvSpPr>
          <p:cNvPr id="18" name="indicator card 3"/>
          <p:cNvSpPr/>
          <p:nvPr/>
        </p:nvSpPr>
        <p:spPr>
          <a:xfrm>
            <a:off x="4572000" y="283464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1C2244"/>
          </a:solidFill>
          <a:ln/>
        </p:spPr>
      </p:sp>
      <p:sp>
        <p:nvSpPr>
          <p:cNvPr id="19" name="indicator 3 badge"/>
          <p:cNvSpPr/>
          <p:nvPr/>
        </p:nvSpPr>
        <p:spPr>
          <a:xfrm>
            <a:off x="4800600" y="3182112"/>
            <a:ext cx="621792" cy="621792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0" name="indicator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3756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Participants, solutions submitted, organisations and problem statements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reported at the end of each phase; all product code and findings stay public.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large, under-served market</a:t>
            </a:r>
            <a:endParaRPr lang="en-US" sz="3000" dirty="0"/>
          </a:p>
        </p:txBody>
      </p:sp>
      <p:sp>
        <p:nvSpPr>
          <p:cNvPr id="3" name="market card 0"/>
          <p:cNvSpPr/>
          <p:nvPr/>
        </p:nvSpPr>
        <p:spPr>
          <a:xfrm>
            <a:off x="548640" y="14173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6.7M</a:t>
            </a:r>
            <a:endParaRPr lang="en-US" sz="3600" dirty="0"/>
          </a:p>
        </p:txBody>
      </p:sp>
      <p:sp>
        <p:nvSpPr>
          <p:cNvPr id="5" name="market dot 0"/>
          <p:cNvSpPr/>
          <p:nvPr/>
        </p:nvSpPr>
        <p:spPr>
          <a:xfrm>
            <a:off x="777240" y="242316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97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Turkish higher education — the primary audience (YÖK, 2024–25)</a:t>
            </a:r>
            <a:endParaRPr lang="en-US" sz="1200" dirty="0"/>
          </a:p>
        </p:txBody>
      </p:sp>
      <p:sp>
        <p:nvSpPr>
          <p:cNvPr id="7" name="market card 1"/>
          <p:cNvSpPr/>
          <p:nvPr/>
        </p:nvSpPr>
        <p:spPr>
          <a:xfrm>
            <a:off x="3291840" y="14173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$6–8B</a:t>
            </a:r>
            <a:endParaRPr lang="en-US" sz="3600" dirty="0"/>
          </a:p>
        </p:txBody>
      </p:sp>
      <p:sp>
        <p:nvSpPr>
          <p:cNvPr id="9" name="market dot 1"/>
          <p:cNvSpPr/>
          <p:nvPr/>
        </p:nvSpPr>
        <p:spPr>
          <a:xfrm>
            <a:off x="3520440" y="2423160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697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freelance-platform market in 2025 across published estimates</a:t>
            </a:r>
            <a:endParaRPr lang="en-US" sz="1200" dirty="0"/>
          </a:p>
        </p:txBody>
      </p:sp>
      <p:sp>
        <p:nvSpPr>
          <p:cNvPr id="11" name="market card 2"/>
          <p:cNvSpPr/>
          <p:nvPr/>
        </p:nvSpPr>
        <p:spPr>
          <a:xfrm>
            <a:off x="6035040" y="14173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$16–30B</a:t>
            </a:r>
            <a:endParaRPr lang="en-US" sz="3600" dirty="0"/>
          </a:p>
        </p:txBody>
      </p:sp>
      <p:sp>
        <p:nvSpPr>
          <p:cNvPr id="13" name="market dot 2"/>
          <p:cNvSpPr/>
          <p:nvPr/>
        </p:nvSpPr>
        <p:spPr>
          <a:xfrm>
            <a:off x="6263640" y="2423160"/>
            <a:ext cx="182880" cy="182880"/>
          </a:xfrm>
          <a:prstGeom prst="ellipse">
            <a:avLst/>
          </a:prstGeom>
          <a:solidFill>
            <a:srgbClr val="8B92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2697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for 2030–2034 by the same research firms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mainstream platform combines student verification, open-source collaboration, mentoring and employer-visible work history in one journey. That combination is our focus.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vary by firm and scope (Mordor Intelligence, The Business Research Company, Grand View Research, Fortune Business Insights).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Built as a public good</a:t>
            </a:r>
            <a:endParaRPr lang="en-US" sz="3000" dirty="0"/>
          </a:p>
        </p:txBody>
      </p:sp>
      <p:sp>
        <p:nvSpPr>
          <p:cNvPr id="3" name="pg card 0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C2244"/>
          </a:solidFill>
          <a:ln/>
        </p:spPr>
      </p:sp>
      <p:sp>
        <p:nvSpPr>
          <p:cNvPr id="4" name="pg 0 badge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5" name="pg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licence; anyone can reuse, adapt and contribute.</a:t>
            </a:r>
            <a:endParaRPr lang="en-US" sz="1300" dirty="0"/>
          </a:p>
        </p:txBody>
      </p:sp>
      <p:sp>
        <p:nvSpPr>
          <p:cNvPr id="8" name="pg card 1"/>
          <p:cNvSpPr/>
          <p:nvPr/>
        </p:nvSpPr>
        <p:spPr>
          <a:xfrm>
            <a:off x="32918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C2244"/>
          </a:solidFill>
          <a:ln/>
        </p:spPr>
      </p:sp>
      <p:sp>
        <p:nvSpPr>
          <p:cNvPr id="9" name="pg 1 badge"/>
          <p:cNvSpPr/>
          <p:nvPr/>
        </p:nvSpPr>
        <p:spPr>
          <a:xfrm>
            <a:off x="3566160" y="1691640"/>
            <a:ext cx="685800" cy="6858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0" name="pg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technical decisions are documented in the repository.</a:t>
            </a:r>
            <a:endParaRPr lang="en-US" sz="1300" dirty="0"/>
          </a:p>
        </p:txBody>
      </p:sp>
      <p:sp>
        <p:nvSpPr>
          <p:cNvPr id="13" name="pg card 2"/>
          <p:cNvSpPr/>
          <p:nvPr/>
        </p:nvSpPr>
        <p:spPr>
          <a:xfrm>
            <a:off x="60350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C2244"/>
          </a:solidFill>
          <a:ln/>
        </p:spPr>
      </p:sp>
      <p:sp>
        <p:nvSpPr>
          <p:cNvPr id="14" name="pg 2 badge"/>
          <p:cNvSpPr/>
          <p:nvPr/>
        </p:nvSpPr>
        <p:spPr>
          <a:xfrm>
            <a:off x="6309360" y="1691640"/>
            <a:ext cx="685800" cy="6858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5" name="pg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first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017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payments and private data designed for safety before speed.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€31,000 across four phases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1600" dirty="0"/>
          </a:p>
        </p:txBody>
      </p:sp>
      <p:sp>
        <p:nvSpPr>
          <p:cNvPr id="4" name="bar FIRST"/>
          <p:cNvSpPr/>
          <p:nvPr/>
        </p:nvSpPr>
        <p:spPr>
          <a:xfrm>
            <a:off x="1371600" y="1508760"/>
            <a:ext cx="225552" cy="411480"/>
          </a:xfrm>
          <a:prstGeom prst="roundRect">
            <a:avLst>
              <a:gd name="adj" fmla="val 32432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34312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600" dirty="0"/>
          </a:p>
        </p:txBody>
      </p:sp>
      <p:sp>
        <p:nvSpPr>
          <p:cNvPr id="7" name="bar STEP"/>
          <p:cNvSpPr/>
          <p:nvPr/>
        </p:nvSpPr>
        <p:spPr>
          <a:xfrm>
            <a:off x="1371600" y="22860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FFB0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2240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€15,000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</a:t>
            </a:r>
            <a:endParaRPr lang="en-US" sz="1600" dirty="0"/>
          </a:p>
        </p:txBody>
      </p:sp>
      <p:sp>
        <p:nvSpPr>
          <p:cNvPr id="10" name="bar INTO"/>
          <p:cNvSpPr/>
          <p:nvPr/>
        </p:nvSpPr>
        <p:spPr>
          <a:xfrm>
            <a:off x="1371600" y="3063240"/>
            <a:ext cx="2255520" cy="411480"/>
          </a:xfrm>
          <a:prstGeom prst="roundRect">
            <a:avLst>
              <a:gd name="adj" fmla="val 17778"/>
            </a:avLst>
          </a:prstGeom>
          <a:solidFill>
            <a:srgbClr val="8B92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64280" y="3017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€10,000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1600" dirty="0"/>
          </a:p>
        </p:txBody>
      </p:sp>
      <p:sp>
        <p:nvSpPr>
          <p:cNvPr id="13" name="bar PATH"/>
          <p:cNvSpPr/>
          <p:nvPr/>
        </p:nvSpPr>
        <p:spPr>
          <a:xfrm>
            <a:off x="1371600" y="3840480"/>
            <a:ext cx="1127760" cy="411480"/>
          </a:xfrm>
          <a:prstGeom prst="roundRect">
            <a:avLst>
              <a:gd name="adj" fmla="val 17778"/>
            </a:avLst>
          </a:prstGeom>
          <a:solidFill>
            <a:srgbClr val="FF6B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3652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€5,000</a:t>
            </a:r>
            <a:endParaRPr lang="en-US" sz="1400" dirty="0"/>
          </a:p>
        </p:txBody>
      </p:sp>
      <p:sp>
        <p:nvSpPr>
          <p:cNvPr id="15" name="split card"/>
          <p:cNvSpPr/>
          <p:nvPr/>
        </p:nvSpPr>
        <p:spPr>
          <a:xfrm>
            <a:off x="5760720" y="1371600"/>
            <a:ext cx="2834640" cy="30632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8932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200" dirty="0"/>
          </a:p>
        </p:txBody>
      </p:sp>
      <p:sp>
        <p:nvSpPr>
          <p:cNvPr id="17" name="own work share"/>
          <p:cNvSpPr/>
          <p:nvPr/>
        </p:nvSpPr>
        <p:spPr>
          <a:xfrm>
            <a:off x="5989320" y="1874520"/>
            <a:ext cx="613533" cy="3657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external share"/>
          <p:cNvSpPr/>
          <p:nvPr/>
        </p:nvSpPr>
        <p:spPr>
          <a:xfrm>
            <a:off x="6602853" y="1874520"/>
            <a:ext cx="1763907" cy="365760"/>
          </a:xfrm>
          <a:prstGeom prst="rect">
            <a:avLst/>
          </a:prstGeom>
          <a:solidFill>
            <a:srgbClr val="5B63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24231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work: 400 h at €20/h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professional services, hosting, outreach, mentor honoraria, incentives and prizes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Where the money goes: FIRST and STEP</a:t>
            </a:r>
            <a:endParaRPr lang="en-US" sz="3000" dirty="0"/>
          </a:p>
        </p:txBody>
      </p:sp>
      <p:sp>
        <p:nvSpPr>
          <p:cNvPr id="3" name="first budget"/>
          <p:cNvSpPr/>
          <p:nvPr/>
        </p:nvSpPr>
        <p:spPr>
          <a:xfrm>
            <a:off x="548640" y="12801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1C22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· €1,000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launch prep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€400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and operations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€300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outreach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€300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FIRST available to an initial community and supports early-user recruitment.</a:t>
            </a:r>
            <a:endParaRPr lang="en-US" sz="1200" dirty="0"/>
          </a:p>
        </p:txBody>
      </p:sp>
      <p:sp>
        <p:nvSpPr>
          <p:cNvPr id="7" name="step budget"/>
          <p:cNvSpPr/>
          <p:nvPr/>
        </p:nvSpPr>
        <p:spPr>
          <a:xfrm>
            <a:off x="4023360" y="128016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1C22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5196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· €15,000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874520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formation, accounting, admin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€2,000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Tax, invoicing, contracts, payment-provider requirements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€4,000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payment integration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€4,000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employer pilot incentives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€3,000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storage, operations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€2,000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38404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organisational and financial basis to operate the marketplace; final arrangements follow professional advice and provider requirements.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Where the money goes: INTO and PATH</a:t>
            </a:r>
            <a:endParaRPr lang="en-US" sz="3000" dirty="0"/>
          </a:p>
        </p:txBody>
      </p:sp>
      <p:sp>
        <p:nvSpPr>
          <p:cNvPr id="3" name="into budget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C22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· €10,000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workflows (development)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€2,400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honoraria for pilot sessions and reviews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€4,000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recruitment and onboarding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€1,600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scheduling, communication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€2,000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Recruits an initial mentor group and pilots project mentoring and personal-development support.</a:t>
            </a:r>
            <a:endParaRPr lang="en-US" sz="1200" dirty="0"/>
          </a:p>
        </p:txBody>
      </p:sp>
      <p:sp>
        <p:nvSpPr>
          <p:cNvPr id="7" name="path budget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C22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· €5,000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745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prototype (development)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€1,200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prizes and pilot incentives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€2,000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to companies and evaluators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€1,000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and evaluation resources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€800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format and runs a small first challenge to learn problem statements and evaluation criteria.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 plan and effort</a:t>
            </a:r>
            <a:endParaRPr lang="en-US" sz="3000" dirty="0"/>
          </a:p>
        </p:txBody>
      </p:sp>
      <p:graphicFrame>
        <p:nvGraphicFramePr>
          <p:cNvPr id="13" name="work pla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669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Refinements, deployment configuration, launch preparation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refinement, payment integration, administrative coordination, pilot preparation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Mentoring workflows, mentor onboarding, pilot coordination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specification, prototype, first challenge coordination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eight-hour days · €20/h (€160/day) · €8,000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covers the applicant's own work only. Accounting, professional advice and mentor services are budgeted separately. Elapsed time also depends on provider onboarding and participant availability.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team: ACK Techs, Istanbul</a:t>
            </a:r>
            <a:endParaRPr lang="en-US" sz="3000" dirty="0"/>
          </a:p>
        </p:txBody>
      </p:sp>
      <p:sp>
        <p:nvSpPr>
          <p:cNvPr id="3" name="team card 0"/>
          <p:cNvSpPr/>
          <p:nvPr/>
        </p:nvSpPr>
        <p:spPr>
          <a:xfrm>
            <a:off x="548640" y="137160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4" name="avatar 0"/>
          <p:cNvSpPr/>
          <p:nvPr/>
        </p:nvSpPr>
        <p:spPr>
          <a:xfrm>
            <a:off x="731520" y="1536192"/>
            <a:ext cx="512064" cy="51206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Çağlar Koçer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59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Product &amp; AI Systems Architect</a:t>
            </a:r>
            <a:endParaRPr lang="en-US" sz="1000" dirty="0"/>
          </a:p>
        </p:txBody>
      </p:sp>
      <p:sp>
        <p:nvSpPr>
          <p:cNvPr id="8" name="team card 1"/>
          <p:cNvSpPr/>
          <p:nvPr/>
        </p:nvSpPr>
        <p:spPr>
          <a:xfrm>
            <a:off x="2560320" y="137160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9" name="avatar 1"/>
          <p:cNvSpPr/>
          <p:nvPr/>
        </p:nvSpPr>
        <p:spPr>
          <a:xfrm>
            <a:off x="2743200" y="1536192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Doğukan Taha Tıraş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59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Frontend &amp; AI Lead</a:t>
            </a:r>
            <a:endParaRPr lang="en-US" sz="1000" dirty="0"/>
          </a:p>
        </p:txBody>
      </p:sp>
      <p:sp>
        <p:nvSpPr>
          <p:cNvPr id="13" name="team card 2"/>
          <p:cNvSpPr/>
          <p:nvPr/>
        </p:nvSpPr>
        <p:spPr>
          <a:xfrm>
            <a:off x="4572000" y="137160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14" name="avatar 2"/>
          <p:cNvSpPr/>
          <p:nvPr/>
        </p:nvSpPr>
        <p:spPr>
          <a:xfrm>
            <a:off x="4754880" y="1536192"/>
            <a:ext cx="512064" cy="512064"/>
          </a:xfrm>
          <a:prstGeom prst="ellipse">
            <a:avLst/>
          </a:prstGeom>
          <a:solidFill>
            <a:srgbClr val="8B92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Batuhan Evleksiz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359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&amp; AI</a:t>
            </a:r>
            <a:endParaRPr lang="en-US" sz="1000" dirty="0"/>
          </a:p>
        </p:txBody>
      </p:sp>
      <p:sp>
        <p:nvSpPr>
          <p:cNvPr id="18" name="team card 3"/>
          <p:cNvSpPr/>
          <p:nvPr/>
        </p:nvSpPr>
        <p:spPr>
          <a:xfrm>
            <a:off x="6583680" y="137160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19" name="avatar 3"/>
          <p:cNvSpPr/>
          <p:nvPr/>
        </p:nvSpPr>
        <p:spPr>
          <a:xfrm>
            <a:off x="6766560" y="1536192"/>
            <a:ext cx="512064" cy="51206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Ayselin Aydoğdu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359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000" dirty="0"/>
          </a:p>
        </p:txBody>
      </p:sp>
      <p:sp>
        <p:nvSpPr>
          <p:cNvPr id="23" name="team card 4"/>
          <p:cNvSpPr/>
          <p:nvPr/>
        </p:nvSpPr>
        <p:spPr>
          <a:xfrm>
            <a:off x="548640" y="292608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24" name="avatar 4"/>
          <p:cNvSpPr/>
          <p:nvPr/>
        </p:nvSpPr>
        <p:spPr>
          <a:xfrm>
            <a:off x="731520" y="3090672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090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Sena Bağdat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913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· Cybersecurity</a:t>
            </a:r>
            <a:endParaRPr lang="en-US" sz="1000" dirty="0"/>
          </a:p>
        </p:txBody>
      </p:sp>
      <p:sp>
        <p:nvSpPr>
          <p:cNvPr id="28" name="team card 5"/>
          <p:cNvSpPr/>
          <p:nvPr/>
        </p:nvSpPr>
        <p:spPr>
          <a:xfrm>
            <a:off x="2560320" y="292608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29" name="avatar 5"/>
          <p:cNvSpPr/>
          <p:nvPr/>
        </p:nvSpPr>
        <p:spPr>
          <a:xfrm>
            <a:off x="2743200" y="3090672"/>
            <a:ext cx="512064" cy="512064"/>
          </a:xfrm>
          <a:prstGeom prst="ellipse">
            <a:avLst/>
          </a:prstGeom>
          <a:solidFill>
            <a:srgbClr val="8B92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743200" y="3090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Yıldız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3913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000" dirty="0"/>
          </a:p>
        </p:txBody>
      </p:sp>
      <p:sp>
        <p:nvSpPr>
          <p:cNvPr id="33" name="team card 6"/>
          <p:cNvSpPr/>
          <p:nvPr/>
        </p:nvSpPr>
        <p:spPr>
          <a:xfrm>
            <a:off x="4572000" y="292608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34" name="avatar 6"/>
          <p:cNvSpPr/>
          <p:nvPr/>
        </p:nvSpPr>
        <p:spPr>
          <a:xfrm>
            <a:off x="4754880" y="3090672"/>
            <a:ext cx="512064" cy="51206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54880" y="3090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Aynur Oruçoğlu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3913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Full-Stack Developer</a:t>
            </a:r>
            <a:endParaRPr lang="en-US" sz="1000" dirty="0"/>
          </a:p>
        </p:txBody>
      </p:sp>
      <p:sp>
        <p:nvSpPr>
          <p:cNvPr id="38" name="team note"/>
          <p:cNvSpPr/>
          <p:nvPr/>
        </p:nvSpPr>
        <p:spPr>
          <a:xfrm>
            <a:off x="6629400" y="29260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0F122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12280" y="30175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Seven-person product and AI team in Istanbul.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ack-techs.com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Risks we have planned for</a:t>
            </a:r>
            <a:endParaRPr lang="en-US" sz="3000" dirty="0"/>
          </a:p>
        </p:txBody>
      </p:sp>
      <p:sp>
        <p:nvSpPr>
          <p:cNvPr id="3" name="risk row 0"/>
          <p:cNvSpPr/>
          <p:nvPr/>
        </p:nvSpPr>
        <p:spPr>
          <a:xfrm>
            <a:off x="548640" y="132588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1C22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Payment-provider and company onboarding takes longer than planned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2588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delivery; pilot credits first; professional support is budgeted.</a:t>
            </a:r>
            <a:endParaRPr lang="en-US" sz="1300" dirty="0"/>
          </a:p>
        </p:txBody>
      </p:sp>
      <p:sp>
        <p:nvSpPr>
          <p:cNvPr id="6" name="risk row 1"/>
          <p:cNvSpPr/>
          <p:nvPr/>
        </p:nvSpPr>
        <p:spPr>
          <a:xfrm>
            <a:off x="548640" y="214884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1C22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is not yet verified in live operation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1488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test work is funded; launch only after live provider verification.</a:t>
            </a:r>
            <a:endParaRPr lang="en-US" sz="1300" dirty="0"/>
          </a:p>
        </p:txBody>
      </p:sp>
      <p:sp>
        <p:nvSpPr>
          <p:cNvPr id="9" name="risk row 2"/>
          <p:cNvSpPr/>
          <p:nvPr/>
        </p:nvSpPr>
        <p:spPr>
          <a:xfrm>
            <a:off x="548640" y="297180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1C22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718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and companies are slow to join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9718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Honoraria, active outreach and a small first pilot before scaling.</a:t>
            </a:r>
            <a:endParaRPr lang="en-US" sz="1300" dirty="0"/>
          </a:p>
        </p:txBody>
      </p:sp>
      <p:sp>
        <p:nvSpPr>
          <p:cNvPr id="12" name="risk row 3"/>
          <p:cNvSpPr/>
          <p:nvPr/>
        </p:nvSpPr>
        <p:spPr>
          <a:xfrm>
            <a:off x="548640" y="379476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1C22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or prize costs may not be eligible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7947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is checked against programme rules before any spending.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1"/>
          <p:cNvSpPr/>
          <p:nvPr/>
        </p:nvSpPr>
        <p:spPr>
          <a:xfrm>
            <a:off x="5486400" y="-1005840"/>
            <a:ext cx="5120640" cy="5120640"/>
          </a:xfrm>
          <a:prstGeom prst="ellipse">
            <a:avLst/>
          </a:prstGeom>
          <a:solidFill>
            <a:srgbClr val="FFB020">
              <a:alpha val="16000"/>
            </a:srgbClr>
          </a:solidFill>
          <a:ln/>
        </p:spPr>
      </p:sp>
      <p:sp>
        <p:nvSpPr>
          <p:cNvPr id="3" name="glow 2"/>
          <p:cNvSpPr/>
          <p:nvPr/>
        </p:nvSpPr>
        <p:spPr>
          <a:xfrm>
            <a:off x="7132320" y="2651760"/>
            <a:ext cx="3108960" cy="310896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2344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€31,000 to turn a working community into lasting opportunity.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experience, proven in public, open to everyone.</a:t>
            </a:r>
            <a:endParaRPr lang="en-US" sz="1800" dirty="0"/>
          </a:p>
        </p:txBody>
      </p:sp>
      <p:sp>
        <p:nvSpPr>
          <p:cNvPr id="6" name="chip github.com/caglarkc/4-product-one-community"/>
          <p:cNvSpPr/>
          <p:nvPr/>
        </p:nvSpPr>
        <p:spPr>
          <a:xfrm>
            <a:off x="640080" y="4114800"/>
            <a:ext cx="356616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github.com/caglarkc/4-product-one-community</a:t>
            </a:r>
            <a:endParaRPr lang="en-US" sz="1000" dirty="0"/>
          </a:p>
        </p:txBody>
      </p:sp>
      <p:sp>
        <p:nvSpPr>
          <p:cNvPr id="8" name="chip ack-techs.com"/>
          <p:cNvSpPr/>
          <p:nvPr/>
        </p:nvSpPr>
        <p:spPr>
          <a:xfrm>
            <a:off x="4343400" y="4114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C2244"/>
          </a:solidFill>
          <a:ln w="12700">
            <a:solidFill>
              <a:srgbClr val="1C22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4114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ack-techs.com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PC Grant">
  <a:themeElements>
    <a:clrScheme name="4PC Grant">
      <a:dk1>
        <a:srgbClr val="0F1222"/>
      </a:dk1>
      <a:lt1>
        <a:srgbClr val="FFFFFF"/>
      </a:lt1>
      <a:dk2>
        <a:srgbClr val="1C2244"/>
      </a:dk2>
      <a:lt2>
        <a:srgbClr val="F2F4FB"/>
      </a:lt2>
      <a:accent1>
        <a:srgbClr val="FFB020"/>
      </a:accent1>
      <a:accent2>
        <a:srgbClr val="2DD4BF"/>
      </a:accent2>
      <a:accent3>
        <a:srgbClr val="8B92FF"/>
      </a:accent3>
      <a:accent4>
        <a:srgbClr val="FF6B6B"/>
      </a:accent4>
      <a:accent5>
        <a:srgbClr val="9AA3C7"/>
      </a:accent5>
      <a:accent6>
        <a:srgbClr val="5B6390"/>
      </a:accent6>
      <a:hlink>
        <a:srgbClr val="8B92FF"/>
      </a:hlink>
      <a:folHlink>
        <a:srgbClr val="9AA3C7"/>
      </a:folHlink>
    </a:clrScheme>
    <a:fontScheme name="4PC Gra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4-Product One Community — Grant Application Deck</dc:title>
  <dc:subject>PptxGenJS Presentation</dc:subject>
  <dc:creator>Ali Çağlar Koçer</dc:creator>
  <cp:lastModifiedBy>Ali Çağlar Koçer</cp:lastModifiedBy>
  <cp:revision>1</cp:revision>
  <dcterms:created xsi:type="dcterms:W3CDTF">2026-10-13T05:13:20Z</dcterms:created>
  <dcterms:modified xsi:type="dcterms:W3CDTF">2026-10-13T05:13:20Z</dcterms:modified>
</cp:coreProperties>
</file>