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Açılış: 'Her yıl binlerce genç diplomayla mezun oluyor ama kimse onlara ilk deneyimi vermiyor. Biz o deneyimi okurken veriyoruz.' Kısa tut, hikâyeyi 2. slaytta başlat.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Sorun üç tarafta da aynı: yetenek var, kanıt yolu yok. Rakam kullanacaksan güvenilir kaynak (TÜİK/OECD) ekle; uydurma istatistik kullanma.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Üç dalga aynı anda geliyor: AI, kanıt odaklı işe alım, uzaktan çalışma. Boşluk tam burada.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Dört tarafın her biri için net bir 'ne kazanıyorum' var. Bu, ekosistemin döngüsünü mümkün kılıyor.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Öğrencinin 4 yıllık yolculuğu olarak anlat: önce üretir (FIRST), sonra kazanır (STEP), mentordan hızlanır (INTO), kendini yarışmada gösterir (PATH).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 slayt güvenilirlik slaytı. STEP'in kaynak olarak geliştirildiğini, canlı ödeme ve test doğrulamasının sıradaki kilometre taşı olduğunu açıkça söyle.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Ürünlerin tek tek değil, birlikte değerli olduğunu vurgula: her tamamlanan iş profili güçlendirir, güçlenen profil yeni iş getirir.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Gelir ilk günden net: işlem komisyonu ve kredi. Kredi fiyatları ve komisyon oranının nihai değerleri yönetimden yapılandırılır; bunu doğru söyle.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Marka adı vermeden kategori karşılaştırması yaptık. Toplantıda Upwork, Bionluk, Kaggle, Patika gibi somut rakipleri sözlü olarak konumlandırabilirsin.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Ürün kopyalanır; ama biriken, doğrulanmış iş geçmişi ve iki taraflı ağ zamanla kopyalanamaz hale gelir.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Büyümeyi dürüst anlat: ürün temeli hazır, şimdi kullanıcı ve iş hacmi büyütme aşamasındayız. Hedef sayıları bu slayta eklemek için kendi planını gir.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Burada yatırım tutarını ve her kalemin yüzdesini kendi bütçene göre ekle. Tutar ve dağılım koşulları görüşmede netleşir.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Kapanış: net bir çağrı yap. Bir sonraki adımı söyle: pilot, görüşme ya da due diligence.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0F12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804672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AA3C7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2F4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804672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39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0F12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1234440"/>
            <a:ext cx="5852160" cy="17373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8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8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AA3C7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low 1"/>
          <p:cNvSpPr/>
          <p:nvPr/>
        </p:nvSpPr>
        <p:spPr>
          <a:xfrm>
            <a:off x="5760720" y="-822960"/>
            <a:ext cx="4754880" cy="4754880"/>
          </a:xfrm>
          <a:prstGeom prst="ellipse">
            <a:avLst/>
          </a:prstGeom>
          <a:solidFill>
            <a:srgbClr val="8B92FF">
              <a:alpha val="18000"/>
            </a:srgbClr>
          </a:solidFill>
          <a:ln/>
        </p:spPr>
      </p:sp>
      <p:sp>
        <p:nvSpPr>
          <p:cNvPr id="3" name="glow 2"/>
          <p:cNvSpPr/>
          <p:nvPr/>
        </p:nvSpPr>
        <p:spPr>
          <a:xfrm>
            <a:off x="6766560" y="2377440"/>
            <a:ext cx="3291840" cy="3291840"/>
          </a:xfrm>
          <a:prstGeom prst="ellipse">
            <a:avLst/>
          </a:prstGeom>
          <a:solidFill>
            <a:srgbClr val="FFB020">
              <a:alpha val="20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685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FB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4-PRODUCT ONE COMMUNITY</a:t>
            </a:r>
            <a:endParaRPr lang="en-US" sz="1200" dirty="0"/>
          </a:p>
        </p:txBody>
      </p:sp>
      <p:sp>
        <p:nvSpPr>
          <p:cNvPr id="5" name="Text 0"/>
          <p:cNvSpPr/>
          <p:nvPr>
            <p:ph idx="100" type="title" hasCustomPrompt="1"/>
          </p:nvPr>
        </p:nvSpPr>
        <p:spPr>
          <a:xfrm>
            <a:off x="640080" y="1234440"/>
            <a:ext cx="58521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chemeClr val="bg1"/>
                </a:solidFill>
              </a:rPr>
              <a:t>Diplomadan önce deneyim. Mezuniyetten önce kanıt.</a:t>
            </a:r>
            <a:endParaRPr lang="en-US" sz="38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3246120"/>
            <a:ext cx="5303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9A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Öğrenciyi daha okurken sektörün içine alan, açık kaynaklı kariyer ekosistemi.</a:t>
            </a:r>
            <a:endParaRPr lang="en-US" sz="1800" dirty="0"/>
          </a:p>
        </p:txBody>
      </p:sp>
      <p:sp>
        <p:nvSpPr>
          <p:cNvPr id="7" name="chip YATIRIMCI SUNUMU · 2026"/>
          <p:cNvSpPr/>
          <p:nvPr/>
        </p:nvSpPr>
        <p:spPr>
          <a:xfrm>
            <a:off x="640080" y="4206240"/>
            <a:ext cx="2103120" cy="256032"/>
          </a:xfrm>
          <a:prstGeom prst="roundRect">
            <a:avLst>
              <a:gd name="adj" fmla="val 50000"/>
            </a:avLst>
          </a:prstGeom>
          <a:solidFill>
            <a:srgbClr val="FFB020"/>
          </a:solidFill>
          <a:ln w="12700">
            <a:solidFill>
              <a:srgbClr val="FFB02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0080" y="420624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YATIRIMCI SUNUMU · 2026</a:t>
            </a:r>
            <a:endParaRPr lang="en-US" sz="1000" dirty="0"/>
          </a:p>
        </p:txBody>
      </p:sp>
      <p:sp>
        <p:nvSpPr>
          <p:cNvPr id="9" name="chip Apache-2.0 · Açık kaynak"/>
          <p:cNvSpPr/>
          <p:nvPr/>
        </p:nvSpPr>
        <p:spPr>
          <a:xfrm>
            <a:off x="2880360" y="4206240"/>
            <a:ext cx="1920240" cy="256032"/>
          </a:xfrm>
          <a:prstGeom prst="roundRect">
            <a:avLst>
              <a:gd name="adj" fmla="val 50000"/>
            </a:avLst>
          </a:prstGeom>
          <a:solidFill>
            <a:srgbClr val="1C2244"/>
          </a:solidFill>
          <a:ln w="12700">
            <a:solidFill>
              <a:srgbClr val="1C2244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880360" y="420624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Apache-2.0 · Açık kaynak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İlk iş kapısı kapanıyor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71600"/>
            <a:ext cx="40233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Deneyimsiz diye işe alınmıyorlar.</a:t>
            </a:r>
            <a:endParaRPr lang="en-US" sz="24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FFB0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İşe alınmadıkları için deneyimsiz kalıyorlar.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474720"/>
            <a:ext cx="4023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9A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Yapay zekâ giriş seviyesi işleri hızla otomatikleştiriyor. Yeni mezunlar için bu kısır döngü her yıl daha da sıkılaşıyor.</a:t>
            </a:r>
            <a:endParaRPr lang="en-US" sz="1400" dirty="0"/>
          </a:p>
        </p:txBody>
      </p:sp>
      <p:sp>
        <p:nvSpPr>
          <p:cNvPr id="5" name="problem card 0"/>
          <p:cNvSpPr/>
          <p:nvPr/>
        </p:nvSpPr>
        <p:spPr>
          <a:xfrm>
            <a:off x="4937760" y="1371600"/>
            <a:ext cx="3657600" cy="950976"/>
          </a:xfrm>
          <a:prstGeom prst="roundRect">
            <a:avLst>
              <a:gd name="adj" fmla="val 11538"/>
            </a:avLst>
          </a:prstGeom>
          <a:solidFill>
            <a:srgbClr val="1C2244"/>
          </a:solidFill>
          <a:ln/>
        </p:spPr>
      </p:sp>
      <p:sp>
        <p:nvSpPr>
          <p:cNvPr id="6" name="problem 0 badge"/>
          <p:cNvSpPr/>
          <p:nvPr/>
        </p:nvSpPr>
        <p:spPr>
          <a:xfrm>
            <a:off x="5120640" y="1554480"/>
            <a:ext cx="585216" cy="585216"/>
          </a:xfrm>
          <a:prstGeom prst="ellipse">
            <a:avLst/>
          </a:prstGeom>
          <a:solidFill>
            <a:srgbClr val="FF6B6B"/>
          </a:solidFill>
          <a:ln/>
        </p:spPr>
      </p:sp>
      <p:pic>
        <p:nvPicPr>
          <p:cNvPr id="7" name="problem 0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66944" y="1700784"/>
            <a:ext cx="292608" cy="292608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5897880" y="1499616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Yeni mezun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5897880" y="178308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A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Diploması var, kanıtlanabilir işi yok.</a:t>
            </a:r>
            <a:endParaRPr lang="en-US" sz="1200" dirty="0"/>
          </a:p>
        </p:txBody>
      </p:sp>
      <p:sp>
        <p:nvSpPr>
          <p:cNvPr id="10" name="problem card 1"/>
          <p:cNvSpPr/>
          <p:nvPr/>
        </p:nvSpPr>
        <p:spPr>
          <a:xfrm>
            <a:off x="4937760" y="2450592"/>
            <a:ext cx="3657600" cy="950976"/>
          </a:xfrm>
          <a:prstGeom prst="roundRect">
            <a:avLst>
              <a:gd name="adj" fmla="val 11538"/>
            </a:avLst>
          </a:prstGeom>
          <a:solidFill>
            <a:srgbClr val="1C2244"/>
          </a:solidFill>
          <a:ln/>
        </p:spPr>
      </p:sp>
      <p:sp>
        <p:nvSpPr>
          <p:cNvPr id="11" name="problem 1 badge"/>
          <p:cNvSpPr/>
          <p:nvPr/>
        </p:nvSpPr>
        <p:spPr>
          <a:xfrm>
            <a:off x="5120640" y="2633472"/>
            <a:ext cx="585216" cy="585216"/>
          </a:xfrm>
          <a:prstGeom prst="ellipse">
            <a:avLst/>
          </a:prstGeom>
          <a:solidFill>
            <a:srgbClr val="8B92FF"/>
          </a:solidFill>
          <a:ln/>
        </p:spPr>
      </p:sp>
      <p:pic>
        <p:nvPicPr>
          <p:cNvPr id="12" name="problem 1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66944" y="2779776"/>
            <a:ext cx="292608" cy="292608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5897880" y="257860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Üniversite</a:t>
            </a:r>
            <a:endParaRPr lang="en-US" sz="1500" dirty="0"/>
          </a:p>
        </p:txBody>
      </p:sp>
      <p:sp>
        <p:nvSpPr>
          <p:cNvPr id="14" name="Text 10"/>
          <p:cNvSpPr txBox="1"/>
          <p:nvPr/>
        </p:nvSpPr>
        <p:spPr>
          <a:xfrm>
            <a:off x="5897880" y="286207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A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Teori güçlü; gerçek sistem ve müşteri baskısı dışarıda.</a:t>
            </a:r>
            <a:endParaRPr lang="en-US" sz="1200" dirty="0"/>
          </a:p>
        </p:txBody>
      </p:sp>
      <p:sp>
        <p:nvSpPr>
          <p:cNvPr id="15" name="problem card 2"/>
          <p:cNvSpPr/>
          <p:nvPr/>
        </p:nvSpPr>
        <p:spPr>
          <a:xfrm>
            <a:off x="4937760" y="3529584"/>
            <a:ext cx="3657600" cy="950976"/>
          </a:xfrm>
          <a:prstGeom prst="roundRect">
            <a:avLst>
              <a:gd name="adj" fmla="val 11538"/>
            </a:avLst>
          </a:prstGeom>
          <a:solidFill>
            <a:srgbClr val="1C2244"/>
          </a:solidFill>
          <a:ln/>
        </p:spPr>
      </p:sp>
      <p:sp>
        <p:nvSpPr>
          <p:cNvPr id="16" name="problem 2 badge"/>
          <p:cNvSpPr/>
          <p:nvPr/>
        </p:nvSpPr>
        <p:spPr>
          <a:xfrm>
            <a:off x="5120640" y="3712464"/>
            <a:ext cx="585216" cy="585216"/>
          </a:xfrm>
          <a:prstGeom prst="ellipse">
            <a:avLst/>
          </a:prstGeom>
          <a:solidFill>
            <a:srgbClr val="2DD4BF"/>
          </a:solidFill>
          <a:ln/>
        </p:spPr>
      </p:sp>
      <p:pic>
        <p:nvPicPr>
          <p:cNvPr id="17" name="problem 2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66944" y="3858768"/>
            <a:ext cx="292608" cy="292608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5897880" y="36576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Şirket</a:t>
            </a:r>
            <a:endParaRPr lang="en-US" sz="1500" dirty="0"/>
          </a:p>
        </p:txBody>
      </p:sp>
      <p:sp>
        <p:nvSpPr>
          <p:cNvPr id="19" name="Text 14"/>
          <p:cNvSpPr txBox="1"/>
          <p:nvPr/>
        </p:nvSpPr>
        <p:spPr>
          <a:xfrm>
            <a:off x="5897880" y="3941064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A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Adayın gerçekte ne ürettiğini göremiyor.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AA3C7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Neden şimdi?</a:t>
            </a:r>
            <a:endParaRPr lang="en-US" sz="3000" dirty="0"/>
          </a:p>
        </p:txBody>
      </p:sp>
      <p:sp>
        <p:nvSpPr>
          <p:cNvPr id="3" name="now card 0"/>
          <p:cNvSpPr/>
          <p:nvPr/>
        </p:nvSpPr>
        <p:spPr>
          <a:xfrm>
            <a:off x="548640" y="1463040"/>
            <a:ext cx="2560320" cy="292608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/>
        </p:spPr>
      </p:sp>
      <p:sp>
        <p:nvSpPr>
          <p:cNvPr id="4" name="now 0 badge"/>
          <p:cNvSpPr/>
          <p:nvPr/>
        </p:nvSpPr>
        <p:spPr>
          <a:xfrm>
            <a:off x="822960" y="1737360"/>
            <a:ext cx="731520" cy="731520"/>
          </a:xfrm>
          <a:prstGeom prst="ellipse">
            <a:avLst/>
          </a:prstGeom>
          <a:solidFill>
            <a:srgbClr val="FF6B6B"/>
          </a:solidFill>
          <a:ln/>
        </p:spPr>
      </p:sp>
      <p:pic>
        <p:nvPicPr>
          <p:cNvPr id="5" name="now 0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1920240"/>
            <a:ext cx="365760" cy="36576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22960" y="265176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F1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giriş işlerini üstleniyor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333756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Rutin kod, taslak ve analiz dakikalara indi; 'stajyer işi' tanımı değişiyor.</a:t>
            </a:r>
            <a:endParaRPr lang="en-US" sz="1300" dirty="0"/>
          </a:p>
        </p:txBody>
      </p:sp>
      <p:sp>
        <p:nvSpPr>
          <p:cNvPr id="8" name="now card 1"/>
          <p:cNvSpPr/>
          <p:nvPr/>
        </p:nvSpPr>
        <p:spPr>
          <a:xfrm>
            <a:off x="3291840" y="1463040"/>
            <a:ext cx="2560320" cy="292608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/>
        </p:spPr>
      </p:sp>
      <p:sp>
        <p:nvSpPr>
          <p:cNvPr id="9" name="now 1 badge"/>
          <p:cNvSpPr/>
          <p:nvPr/>
        </p:nvSpPr>
        <p:spPr>
          <a:xfrm>
            <a:off x="3566160" y="1737360"/>
            <a:ext cx="731520" cy="731520"/>
          </a:xfrm>
          <a:prstGeom prst="ellipse">
            <a:avLst/>
          </a:prstGeom>
          <a:solidFill>
            <a:srgbClr val="8B92FF"/>
          </a:solidFill>
          <a:ln/>
        </p:spPr>
      </p:sp>
      <p:pic>
        <p:nvPicPr>
          <p:cNvPr id="10" name="now 1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9040" y="1920240"/>
            <a:ext cx="365760" cy="36576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3566160" y="265176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F1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Şirketler kanıt arıyor</a:t>
            </a:r>
            <a:endParaRPr lang="en-US" sz="1700" dirty="0"/>
          </a:p>
        </p:txBody>
      </p:sp>
      <p:sp>
        <p:nvSpPr>
          <p:cNvPr id="12" name="Text 8"/>
          <p:cNvSpPr txBox="1"/>
          <p:nvPr/>
        </p:nvSpPr>
        <p:spPr>
          <a:xfrm>
            <a:off x="3566160" y="333756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Özgeçmiş cümlesi yerine yapılmış işe, teslimata ve referansa bakılıyor.</a:t>
            </a:r>
            <a:endParaRPr lang="en-US" sz="1300" dirty="0"/>
          </a:p>
        </p:txBody>
      </p:sp>
      <p:sp>
        <p:nvSpPr>
          <p:cNvPr id="13" name="now card 2"/>
          <p:cNvSpPr/>
          <p:nvPr/>
        </p:nvSpPr>
        <p:spPr>
          <a:xfrm>
            <a:off x="6035040" y="1463040"/>
            <a:ext cx="2560320" cy="292608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/>
        </p:spPr>
      </p:sp>
      <p:sp>
        <p:nvSpPr>
          <p:cNvPr id="14" name="now 2 badge"/>
          <p:cNvSpPr/>
          <p:nvPr/>
        </p:nvSpPr>
        <p:spPr>
          <a:xfrm>
            <a:off x="6309360" y="1737360"/>
            <a:ext cx="731520" cy="731520"/>
          </a:xfrm>
          <a:prstGeom prst="ellipse">
            <a:avLst/>
          </a:prstGeom>
          <a:solidFill>
            <a:srgbClr val="2DD4BF"/>
          </a:solidFill>
          <a:ln/>
        </p:spPr>
      </p:sp>
      <p:pic>
        <p:nvPicPr>
          <p:cNvPr id="15" name="now 2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0" y="1920240"/>
            <a:ext cx="365760" cy="36576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6309360" y="265176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F1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Öğrenciler dijitalde üretebiliyor</a:t>
            </a:r>
            <a:endParaRPr lang="en-US" sz="1700" dirty="0"/>
          </a:p>
        </p:txBody>
      </p:sp>
      <p:sp>
        <p:nvSpPr>
          <p:cNvPr id="17" name="Text 12"/>
          <p:cNvSpPr txBox="1"/>
          <p:nvPr/>
        </p:nvSpPr>
        <p:spPr>
          <a:xfrm>
            <a:off x="6309360" y="333756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Uzaktan, takım halinde ve araçlarla çalışmak yeni kuşak için doğal.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39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Çözüm: sektörün içinde okumak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9A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Öğrenci gerçek projede, gerçek müşteriyle, gerçek mentorla çalışır. Herkes kazanır.</a:t>
            </a:r>
            <a:endParaRPr lang="en-US" sz="1600" dirty="0"/>
          </a:p>
        </p:txBody>
      </p:sp>
      <p:sp>
        <p:nvSpPr>
          <p:cNvPr id="4" name="who card 0"/>
          <p:cNvSpPr/>
          <p:nvPr/>
        </p:nvSpPr>
        <p:spPr>
          <a:xfrm>
            <a:off x="548640" y="1874520"/>
            <a:ext cx="3840480" cy="1234440"/>
          </a:xfrm>
          <a:prstGeom prst="roundRect">
            <a:avLst>
              <a:gd name="adj" fmla="val 8889"/>
            </a:avLst>
          </a:prstGeom>
          <a:solidFill>
            <a:srgbClr val="1C2244"/>
          </a:solidFill>
          <a:ln/>
        </p:spPr>
      </p:sp>
      <p:sp>
        <p:nvSpPr>
          <p:cNvPr id="5" name="who 0 badge"/>
          <p:cNvSpPr/>
          <p:nvPr/>
        </p:nvSpPr>
        <p:spPr>
          <a:xfrm>
            <a:off x="777240" y="2176272"/>
            <a:ext cx="640080" cy="640080"/>
          </a:xfrm>
          <a:prstGeom prst="ellipse">
            <a:avLst/>
          </a:prstGeom>
          <a:solidFill>
            <a:srgbClr val="FFB020"/>
          </a:solidFill>
          <a:ln/>
        </p:spPr>
      </p:sp>
      <p:pic>
        <p:nvPicPr>
          <p:cNvPr id="6" name="who 0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7260" y="2336292"/>
            <a:ext cx="320040" cy="32004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600200" y="2075688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Öğrenci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1600200" y="2423160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A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Mezun olmadan iş geçmişi, ilk kazanç, portföy</a:t>
            </a:r>
            <a:endParaRPr lang="en-US" sz="1300" dirty="0"/>
          </a:p>
        </p:txBody>
      </p:sp>
      <p:sp>
        <p:nvSpPr>
          <p:cNvPr id="9" name="who card 1"/>
          <p:cNvSpPr/>
          <p:nvPr/>
        </p:nvSpPr>
        <p:spPr>
          <a:xfrm>
            <a:off x="4572000" y="1874520"/>
            <a:ext cx="3840480" cy="1234440"/>
          </a:xfrm>
          <a:prstGeom prst="roundRect">
            <a:avLst>
              <a:gd name="adj" fmla="val 8889"/>
            </a:avLst>
          </a:prstGeom>
          <a:solidFill>
            <a:srgbClr val="1C2244"/>
          </a:solidFill>
          <a:ln/>
        </p:spPr>
      </p:sp>
      <p:sp>
        <p:nvSpPr>
          <p:cNvPr id="10" name="who 1 badge"/>
          <p:cNvSpPr/>
          <p:nvPr/>
        </p:nvSpPr>
        <p:spPr>
          <a:xfrm>
            <a:off x="4800600" y="2176272"/>
            <a:ext cx="640080" cy="640080"/>
          </a:xfrm>
          <a:prstGeom prst="ellipse">
            <a:avLst/>
          </a:prstGeom>
          <a:solidFill>
            <a:srgbClr val="2DD4BF"/>
          </a:solidFill>
          <a:ln/>
        </p:spPr>
      </p:sp>
      <p:pic>
        <p:nvPicPr>
          <p:cNvPr id="11" name="who 1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60620" y="2336292"/>
            <a:ext cx="320040" cy="32004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5623560" y="2075688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Deneyimli profesyonel</a:t>
            </a:r>
            <a:endParaRPr lang="en-US" sz="1600" dirty="0"/>
          </a:p>
        </p:txBody>
      </p:sp>
      <p:sp>
        <p:nvSpPr>
          <p:cNvPr id="13" name="Text 9"/>
          <p:cNvSpPr txBox="1"/>
          <p:nvPr/>
        </p:nvSpPr>
        <p:spPr>
          <a:xfrm>
            <a:off x="5623560" y="2423160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A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Mentorlukla gelir ve yeni nesil yetiştirme</a:t>
            </a:r>
            <a:endParaRPr lang="en-US" sz="1300" dirty="0"/>
          </a:p>
        </p:txBody>
      </p:sp>
      <p:sp>
        <p:nvSpPr>
          <p:cNvPr id="14" name="who card 2"/>
          <p:cNvSpPr/>
          <p:nvPr/>
        </p:nvSpPr>
        <p:spPr>
          <a:xfrm>
            <a:off x="548640" y="3246120"/>
            <a:ext cx="3840480" cy="1234440"/>
          </a:xfrm>
          <a:prstGeom prst="roundRect">
            <a:avLst>
              <a:gd name="adj" fmla="val 8889"/>
            </a:avLst>
          </a:prstGeom>
          <a:solidFill>
            <a:srgbClr val="1C2244"/>
          </a:solidFill>
          <a:ln/>
        </p:spPr>
      </p:sp>
      <p:sp>
        <p:nvSpPr>
          <p:cNvPr id="15" name="who 2 badge"/>
          <p:cNvSpPr/>
          <p:nvPr/>
        </p:nvSpPr>
        <p:spPr>
          <a:xfrm>
            <a:off x="777240" y="3547872"/>
            <a:ext cx="640080" cy="640080"/>
          </a:xfrm>
          <a:prstGeom prst="ellipse">
            <a:avLst/>
          </a:prstGeom>
          <a:solidFill>
            <a:srgbClr val="8B92FF"/>
          </a:solidFill>
          <a:ln/>
        </p:spPr>
      </p:sp>
      <p:pic>
        <p:nvPicPr>
          <p:cNvPr id="16" name="who 2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7260" y="3707892"/>
            <a:ext cx="320040" cy="32004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600200" y="3447288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Şirket</a:t>
            </a:r>
            <a:endParaRPr lang="en-US" sz="1600" dirty="0"/>
          </a:p>
        </p:txBody>
      </p:sp>
      <p:sp>
        <p:nvSpPr>
          <p:cNvPr id="18" name="Text 13"/>
          <p:cNvSpPr txBox="1"/>
          <p:nvPr/>
        </p:nvSpPr>
        <p:spPr>
          <a:xfrm>
            <a:off x="1600200" y="3794760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A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Özgeçmişte değil, yapılan işte aday görmek</a:t>
            </a:r>
            <a:endParaRPr lang="en-US" sz="1300" dirty="0"/>
          </a:p>
        </p:txBody>
      </p:sp>
      <p:sp>
        <p:nvSpPr>
          <p:cNvPr id="19" name="who card 3"/>
          <p:cNvSpPr/>
          <p:nvPr/>
        </p:nvSpPr>
        <p:spPr>
          <a:xfrm>
            <a:off x="4572000" y="3246120"/>
            <a:ext cx="3840480" cy="1234440"/>
          </a:xfrm>
          <a:prstGeom prst="roundRect">
            <a:avLst>
              <a:gd name="adj" fmla="val 8889"/>
            </a:avLst>
          </a:prstGeom>
          <a:solidFill>
            <a:srgbClr val="1C2244"/>
          </a:solidFill>
          <a:ln/>
        </p:spPr>
      </p:sp>
      <p:sp>
        <p:nvSpPr>
          <p:cNvPr id="20" name="who 3 badge"/>
          <p:cNvSpPr/>
          <p:nvPr/>
        </p:nvSpPr>
        <p:spPr>
          <a:xfrm>
            <a:off x="4800600" y="3547872"/>
            <a:ext cx="640080" cy="640080"/>
          </a:xfrm>
          <a:prstGeom prst="ellipse">
            <a:avLst/>
          </a:prstGeom>
          <a:solidFill>
            <a:srgbClr val="FF6B6B"/>
          </a:solidFill>
          <a:ln/>
        </p:spPr>
      </p:sp>
      <p:pic>
        <p:nvPicPr>
          <p:cNvPr id="21" name="who 3 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60620" y="3707892"/>
            <a:ext cx="320040" cy="320040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5623560" y="3447288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Üniversite</a:t>
            </a:r>
            <a:endParaRPr lang="en-US" sz="1600" dirty="0"/>
          </a:p>
        </p:txBody>
      </p:sp>
      <p:sp>
        <p:nvSpPr>
          <p:cNvPr id="23" name="Text 17"/>
          <p:cNvSpPr txBox="1"/>
          <p:nvPr/>
        </p:nvSpPr>
        <p:spPr>
          <a:xfrm>
            <a:off x="5623560" y="3794760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A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Müfredata dokunmadan sektör köprüsü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AA3C7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Dört ürün, tek yolculuk</a:t>
            </a:r>
            <a:endParaRPr lang="en-US" sz="3000" dirty="0"/>
          </a:p>
        </p:txBody>
      </p:sp>
      <p:sp>
        <p:nvSpPr>
          <p:cNvPr id="3" name="product card FIRST"/>
          <p:cNvSpPr/>
          <p:nvPr/>
        </p:nvSpPr>
        <p:spPr>
          <a:xfrm>
            <a:off x="548640" y="1417320"/>
            <a:ext cx="1874520" cy="3063240"/>
          </a:xfrm>
          <a:prstGeom prst="roundRect">
            <a:avLst>
              <a:gd name="adj" fmla="val 5854"/>
            </a:avLst>
          </a:prstGeom>
          <a:solidFill>
            <a:srgbClr val="FFFFFF"/>
          </a:solidFill>
          <a:ln/>
        </p:spPr>
      </p:sp>
      <p:sp>
        <p:nvSpPr>
          <p:cNvPr id="4" name="FIRST badge"/>
          <p:cNvSpPr/>
          <p:nvPr/>
        </p:nvSpPr>
        <p:spPr>
          <a:xfrm>
            <a:off x="777240" y="1645920"/>
            <a:ext cx="566928" cy="566928"/>
          </a:xfrm>
          <a:prstGeom prst="ellipse">
            <a:avLst/>
          </a:prstGeom>
          <a:solidFill>
            <a:srgbClr val="2DD4BF"/>
          </a:solidFill>
          <a:ln/>
        </p:spPr>
      </p:sp>
      <p:pic>
        <p:nvPicPr>
          <p:cNvPr id="5" name="FIRST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8972" y="1787652"/>
            <a:ext cx="283464" cy="28346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777240" y="233172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2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FIRST</a:t>
            </a:r>
            <a:endParaRPr lang="en-US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269748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B6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Birlikte üret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3017520"/>
            <a:ext cx="1463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 ve açık kaynak topluluğu: ekip kur, katkı ver.</a:t>
            </a:r>
            <a:endParaRPr lang="en-US" sz="1200" dirty="0"/>
          </a:p>
        </p:txBody>
      </p:sp>
      <p:sp>
        <p:nvSpPr>
          <p:cNvPr id="9" name="chip ÇALIŞIYOR"/>
          <p:cNvSpPr/>
          <p:nvPr/>
        </p:nvSpPr>
        <p:spPr>
          <a:xfrm>
            <a:off x="777240" y="4069080"/>
            <a:ext cx="1417320" cy="256032"/>
          </a:xfrm>
          <a:prstGeom prst="roundRect">
            <a:avLst>
              <a:gd name="adj" fmla="val 50000"/>
            </a:avLst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77240" y="4069080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ÇALIŞIYOR</a:t>
            </a:r>
            <a:endParaRPr lang="en-US" sz="1000" dirty="0"/>
          </a:p>
        </p:txBody>
      </p:sp>
      <p:sp>
        <p:nvSpPr>
          <p:cNvPr id="11" name="product card STEP"/>
          <p:cNvSpPr/>
          <p:nvPr/>
        </p:nvSpPr>
        <p:spPr>
          <a:xfrm>
            <a:off x="2560320" y="1417320"/>
            <a:ext cx="1874520" cy="3063240"/>
          </a:xfrm>
          <a:prstGeom prst="roundRect">
            <a:avLst>
              <a:gd name="adj" fmla="val 5854"/>
            </a:avLst>
          </a:prstGeom>
          <a:solidFill>
            <a:srgbClr val="FFFFFF"/>
          </a:solidFill>
          <a:ln/>
        </p:spPr>
      </p:sp>
      <p:sp>
        <p:nvSpPr>
          <p:cNvPr id="12" name="STEP badge"/>
          <p:cNvSpPr/>
          <p:nvPr/>
        </p:nvSpPr>
        <p:spPr>
          <a:xfrm>
            <a:off x="2788920" y="1645920"/>
            <a:ext cx="566928" cy="566928"/>
          </a:xfrm>
          <a:prstGeom prst="ellipse">
            <a:avLst/>
          </a:prstGeom>
          <a:solidFill>
            <a:srgbClr val="FFB020"/>
          </a:solidFill>
          <a:ln/>
        </p:spPr>
      </p:sp>
      <p:pic>
        <p:nvPicPr>
          <p:cNvPr id="13" name="STEP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30652" y="1787652"/>
            <a:ext cx="283464" cy="283464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2788920" y="233172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2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</a:t>
            </a:r>
            <a:endParaRPr lang="en-US" sz="2200" dirty="0"/>
          </a:p>
        </p:txBody>
      </p:sp>
      <p:sp>
        <p:nvSpPr>
          <p:cNvPr id="15" name="Text 11"/>
          <p:cNvSpPr txBox="1"/>
          <p:nvPr/>
        </p:nvSpPr>
        <p:spPr>
          <a:xfrm>
            <a:off x="2788920" y="269748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B6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Ücretli iş al</a:t>
            </a:r>
            <a:endParaRPr lang="en-US" sz="1300" dirty="0"/>
          </a:p>
        </p:txBody>
      </p:sp>
      <p:sp>
        <p:nvSpPr>
          <p:cNvPr id="16" name="Text 12"/>
          <p:cNvSpPr txBox="1"/>
          <p:nvPr/>
        </p:nvSpPr>
        <p:spPr>
          <a:xfrm>
            <a:off x="2788920" y="3017520"/>
            <a:ext cx="1463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Doğrulanmış öğrenciler için iş pazarı ve ödeme güvencesi.</a:t>
            </a:r>
            <a:endParaRPr lang="en-US" sz="1200" dirty="0"/>
          </a:p>
        </p:txBody>
      </p:sp>
      <p:sp>
        <p:nvSpPr>
          <p:cNvPr id="17" name="chip CANLIYA HAZIRLIK"/>
          <p:cNvSpPr/>
          <p:nvPr/>
        </p:nvSpPr>
        <p:spPr>
          <a:xfrm>
            <a:off x="2788920" y="4069080"/>
            <a:ext cx="1417320" cy="256032"/>
          </a:xfrm>
          <a:prstGeom prst="roundRect">
            <a:avLst>
              <a:gd name="adj" fmla="val 50000"/>
            </a:avLst>
          </a:prstGeom>
          <a:solidFill>
            <a:srgbClr val="FFB020"/>
          </a:solidFill>
          <a:ln w="12700">
            <a:solidFill>
              <a:srgbClr val="FFB020"/>
            </a:solidFill>
            <a:prstDash val="solid"/>
          </a:ln>
        </p:spPr>
      </p:sp>
      <p:sp>
        <p:nvSpPr>
          <p:cNvPr id="18" name="Text 14"/>
          <p:cNvSpPr txBox="1"/>
          <p:nvPr/>
        </p:nvSpPr>
        <p:spPr>
          <a:xfrm>
            <a:off x="2788920" y="4069080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CANLIYA HAZIRLIK</a:t>
            </a:r>
            <a:endParaRPr lang="en-US" sz="1000" dirty="0"/>
          </a:p>
        </p:txBody>
      </p:sp>
      <p:sp>
        <p:nvSpPr>
          <p:cNvPr id="19" name="product card INTO"/>
          <p:cNvSpPr/>
          <p:nvPr/>
        </p:nvSpPr>
        <p:spPr>
          <a:xfrm>
            <a:off x="4572000" y="1417320"/>
            <a:ext cx="1874520" cy="3063240"/>
          </a:xfrm>
          <a:prstGeom prst="roundRect">
            <a:avLst>
              <a:gd name="adj" fmla="val 5854"/>
            </a:avLst>
          </a:prstGeom>
          <a:solidFill>
            <a:srgbClr val="FFFFFF"/>
          </a:solidFill>
          <a:ln/>
        </p:spPr>
      </p:sp>
      <p:sp>
        <p:nvSpPr>
          <p:cNvPr id="20" name="INTO badge"/>
          <p:cNvSpPr/>
          <p:nvPr/>
        </p:nvSpPr>
        <p:spPr>
          <a:xfrm>
            <a:off x="4800600" y="1645920"/>
            <a:ext cx="566928" cy="566928"/>
          </a:xfrm>
          <a:prstGeom prst="ellipse">
            <a:avLst/>
          </a:prstGeom>
          <a:solidFill>
            <a:srgbClr val="8B92FF"/>
          </a:solidFill>
          <a:ln/>
        </p:spPr>
      </p:sp>
      <p:pic>
        <p:nvPicPr>
          <p:cNvPr id="21" name="INTO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42332" y="1787652"/>
            <a:ext cx="283464" cy="283464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4800600" y="233172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2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INTO</a:t>
            </a:r>
            <a:endParaRPr lang="en-US" sz="2200" dirty="0"/>
          </a:p>
        </p:txBody>
      </p:sp>
      <p:sp>
        <p:nvSpPr>
          <p:cNvPr id="23" name="Text 18"/>
          <p:cNvSpPr txBox="1"/>
          <p:nvPr/>
        </p:nvSpPr>
        <p:spPr>
          <a:xfrm>
            <a:off x="4800600" y="269748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B6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Mentordan öğren</a:t>
            </a:r>
            <a:endParaRPr lang="en-US" sz="1300" dirty="0"/>
          </a:p>
        </p:txBody>
      </p:sp>
      <p:sp>
        <p:nvSpPr>
          <p:cNvPr id="24" name="Text 19"/>
          <p:cNvSpPr txBox="1"/>
          <p:nvPr/>
        </p:nvSpPr>
        <p:spPr>
          <a:xfrm>
            <a:off x="4800600" y="3017520"/>
            <a:ext cx="1463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Ücretli/gönüllü mentorluk ve acil destek.</a:t>
            </a:r>
            <a:endParaRPr lang="en-US" sz="1200" dirty="0"/>
          </a:p>
        </p:txBody>
      </p:sp>
      <p:sp>
        <p:nvSpPr>
          <p:cNvPr id="25" name="chip KAPSAM NETLEŞTİ"/>
          <p:cNvSpPr/>
          <p:nvPr/>
        </p:nvSpPr>
        <p:spPr>
          <a:xfrm>
            <a:off x="4800600" y="4069080"/>
            <a:ext cx="1417320" cy="256032"/>
          </a:xfrm>
          <a:prstGeom prst="roundRect">
            <a:avLst>
              <a:gd name="adj" fmla="val 50000"/>
            </a:avLst>
          </a:prstGeom>
          <a:solidFill>
            <a:srgbClr val="8B92FF"/>
          </a:solidFill>
          <a:ln w="12700">
            <a:solidFill>
              <a:srgbClr val="8B92FF"/>
            </a:solidFill>
            <a:prstDash val="solid"/>
          </a:ln>
        </p:spPr>
      </p:sp>
      <p:sp>
        <p:nvSpPr>
          <p:cNvPr id="26" name="Text 21"/>
          <p:cNvSpPr txBox="1"/>
          <p:nvPr/>
        </p:nvSpPr>
        <p:spPr>
          <a:xfrm>
            <a:off x="4800600" y="4069080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KAPSAM NETLEŞTİ</a:t>
            </a:r>
            <a:endParaRPr lang="en-US" sz="1000" dirty="0"/>
          </a:p>
        </p:txBody>
      </p:sp>
      <p:sp>
        <p:nvSpPr>
          <p:cNvPr id="27" name="product card PATH"/>
          <p:cNvSpPr/>
          <p:nvPr/>
        </p:nvSpPr>
        <p:spPr>
          <a:xfrm>
            <a:off x="6583680" y="1417320"/>
            <a:ext cx="1874520" cy="3063240"/>
          </a:xfrm>
          <a:prstGeom prst="roundRect">
            <a:avLst>
              <a:gd name="adj" fmla="val 5854"/>
            </a:avLst>
          </a:prstGeom>
          <a:solidFill>
            <a:srgbClr val="FFFFFF"/>
          </a:solidFill>
          <a:ln/>
        </p:spPr>
      </p:sp>
      <p:sp>
        <p:nvSpPr>
          <p:cNvPr id="28" name="PATH badge"/>
          <p:cNvSpPr/>
          <p:nvPr/>
        </p:nvSpPr>
        <p:spPr>
          <a:xfrm>
            <a:off x="6812280" y="1645920"/>
            <a:ext cx="566928" cy="566928"/>
          </a:xfrm>
          <a:prstGeom prst="ellipse">
            <a:avLst/>
          </a:prstGeom>
          <a:solidFill>
            <a:srgbClr val="9AA3C7"/>
          </a:solidFill>
          <a:ln/>
        </p:spPr>
      </p:sp>
      <p:pic>
        <p:nvPicPr>
          <p:cNvPr id="29" name="PATH 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54012" y="1787652"/>
            <a:ext cx="283464" cy="283464"/>
          </a:xfrm>
          <a:prstGeom prst="rect">
            <a:avLst/>
          </a:prstGeom>
        </p:spPr>
      </p:pic>
      <p:sp>
        <p:nvSpPr>
          <p:cNvPr id="30" name="Text 24"/>
          <p:cNvSpPr txBox="1"/>
          <p:nvPr/>
        </p:nvSpPr>
        <p:spPr>
          <a:xfrm>
            <a:off x="6812280" y="233172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2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PATH</a:t>
            </a:r>
            <a:endParaRPr lang="en-US" sz="2200" dirty="0"/>
          </a:p>
        </p:txBody>
      </p:sp>
      <p:sp>
        <p:nvSpPr>
          <p:cNvPr id="31" name="Text 25"/>
          <p:cNvSpPr txBox="1"/>
          <p:nvPr/>
        </p:nvSpPr>
        <p:spPr>
          <a:xfrm>
            <a:off x="6812280" y="269748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B6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çöz, görün</a:t>
            </a:r>
            <a:endParaRPr lang="en-US" sz="1300" dirty="0"/>
          </a:p>
        </p:txBody>
      </p:sp>
      <p:sp>
        <p:nvSpPr>
          <p:cNvPr id="32" name="Text 26"/>
          <p:cNvSpPr txBox="1"/>
          <p:nvPr/>
        </p:nvSpPr>
        <p:spPr>
          <a:xfrm>
            <a:off x="6812280" y="3017520"/>
            <a:ext cx="1463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Şirket problemleri üzerinde yarışmalar.</a:t>
            </a:r>
            <a:endParaRPr lang="en-US" sz="1200" dirty="0"/>
          </a:p>
        </p:txBody>
      </p:sp>
      <p:sp>
        <p:nvSpPr>
          <p:cNvPr id="33" name="chip FİKİR AŞAMASI"/>
          <p:cNvSpPr/>
          <p:nvPr/>
        </p:nvSpPr>
        <p:spPr>
          <a:xfrm>
            <a:off x="6812280" y="4069080"/>
            <a:ext cx="1417320" cy="256032"/>
          </a:xfrm>
          <a:prstGeom prst="roundRect">
            <a:avLst>
              <a:gd name="adj" fmla="val 50000"/>
            </a:avLst>
          </a:prstGeom>
          <a:solidFill>
            <a:srgbClr val="9AA3C7"/>
          </a:solidFill>
          <a:ln w="12700">
            <a:solidFill>
              <a:srgbClr val="9AA3C7"/>
            </a:solidFill>
            <a:prstDash val="solid"/>
          </a:ln>
        </p:spPr>
      </p:sp>
      <p:sp>
        <p:nvSpPr>
          <p:cNvPr id="34" name="Text 28"/>
          <p:cNvSpPr txBox="1"/>
          <p:nvPr/>
        </p:nvSpPr>
        <p:spPr>
          <a:xfrm>
            <a:off x="6812280" y="4069080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FİKİR AŞAMASI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39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Fikir değil: çalışan bir temel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1732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B0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14884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A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ürün, tek ekosistem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2560320" y="141732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B0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2560320" y="214884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A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ortak kullanıcı yolculuğu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4572000" y="141732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B0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4000" dirty="0"/>
          </a:p>
        </p:txBody>
      </p:sp>
      <p:sp>
        <p:nvSpPr>
          <p:cNvPr id="8" name="Text 6"/>
          <p:cNvSpPr txBox="1"/>
          <p:nvPr/>
        </p:nvSpPr>
        <p:spPr>
          <a:xfrm>
            <a:off x="4572000" y="214884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A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işletim sisteminde takip istemcisi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6583680" y="141732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B0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Apache-2.0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6583680" y="214884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A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açık kaynak lisans</a:t>
            </a:r>
            <a:endParaRPr lang="en-US" sz="1200" dirty="0"/>
          </a:p>
        </p:txBody>
      </p:sp>
      <p:sp>
        <p:nvSpPr>
          <p:cNvPr id="11" name="built panel"/>
          <p:cNvSpPr/>
          <p:nvPr/>
        </p:nvSpPr>
        <p:spPr>
          <a:xfrm>
            <a:off x="548640" y="2788920"/>
            <a:ext cx="8046720" cy="1783080"/>
          </a:xfrm>
          <a:prstGeom prst="roundRect">
            <a:avLst>
              <a:gd name="adj" fmla="val 6154"/>
            </a:avLst>
          </a:prstGeom>
          <a:solidFill>
            <a:srgbClr val="1C2244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22960" y="2926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FIRST'te bugün uygulanmış:</a:t>
            </a:r>
            <a:endParaRPr lang="en-US" sz="1400" dirty="0"/>
          </a:p>
        </p:txBody>
      </p:sp>
      <p:pic>
        <p:nvPicPr>
          <p:cNvPr id="13" name="check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3328416"/>
            <a:ext cx="201168" cy="201168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1143000" y="329184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ve GitHub ile giriş</a:t>
            </a:r>
            <a:endParaRPr lang="en-US" sz="1300" dirty="0"/>
          </a:p>
        </p:txBody>
      </p:sp>
      <p:pic>
        <p:nvPicPr>
          <p:cNvPr id="15" name="check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3328416"/>
            <a:ext cx="201168" cy="201168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4983480" y="329184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repo bağlantısı</a:t>
            </a:r>
            <a:endParaRPr lang="en-US" sz="1300" dirty="0"/>
          </a:p>
        </p:txBody>
      </p:sp>
      <p:pic>
        <p:nvPicPr>
          <p:cNvPr id="17" name="check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3712464"/>
            <a:ext cx="201168" cy="201168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1143000" y="367588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 ilanı, başvuru ve davet</a:t>
            </a:r>
            <a:endParaRPr lang="en-US" sz="1300" dirty="0"/>
          </a:p>
        </p:txBody>
      </p:sp>
      <p:pic>
        <p:nvPicPr>
          <p:cNvPr id="19" name="check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3440" y="3712464"/>
            <a:ext cx="201168" cy="201168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4983480" y="367588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Ekipler ve görev keşfi</a:t>
            </a:r>
            <a:endParaRPr lang="en-US" sz="1300" dirty="0"/>
          </a:p>
        </p:txBody>
      </p:sp>
      <p:pic>
        <p:nvPicPr>
          <p:cNvPr id="21" name="check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960" y="4096512"/>
            <a:ext cx="201168" cy="201168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1143000" y="4059936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Topluluk akışı ve kişi keşfi</a:t>
            </a:r>
            <a:endParaRPr lang="en-US" sz="1300" dirty="0"/>
          </a:p>
        </p:txBody>
      </p:sp>
      <p:pic>
        <p:nvPicPr>
          <p:cNvPr id="23" name="check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63440" y="4096512"/>
            <a:ext cx="201168" cy="201168"/>
          </a:xfrm>
          <a:prstGeom prst="rect">
            <a:avLst/>
          </a:prstGeom>
        </p:spPr>
      </p:pic>
      <p:sp>
        <p:nvSpPr>
          <p:cNvPr id="24" name="Text 16"/>
          <p:cNvSpPr txBox="1"/>
          <p:nvPr/>
        </p:nvSpPr>
        <p:spPr>
          <a:xfrm>
            <a:off x="4983480" y="4059936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Özel repodan seçili dosya vitrini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AA3C7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Her iş bir sonrakini besler</a:t>
            </a:r>
            <a:endParaRPr lang="en-US" sz="3000" dirty="0"/>
          </a:p>
        </p:txBody>
      </p:sp>
      <p:sp>
        <p:nvSpPr>
          <p:cNvPr id="3" name="node FIRST"/>
          <p:cNvSpPr/>
          <p:nvPr/>
        </p:nvSpPr>
        <p:spPr>
          <a:xfrm>
            <a:off x="914400" y="1600200"/>
            <a:ext cx="2377440" cy="118872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/>
        </p:spPr>
      </p:sp>
      <p:sp>
        <p:nvSpPr>
          <p:cNvPr id="4" name="dot FIRST"/>
          <p:cNvSpPr/>
          <p:nvPr/>
        </p:nvSpPr>
        <p:spPr>
          <a:xfrm>
            <a:off x="1097280" y="1783080"/>
            <a:ext cx="329184" cy="329184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554480" y="1764792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2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FIRST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097280" y="224028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Katkı görünür olur</a:t>
            </a:r>
            <a:endParaRPr lang="en-US" sz="1200" dirty="0"/>
          </a:p>
        </p:txBody>
      </p:sp>
      <p:sp>
        <p:nvSpPr>
          <p:cNvPr id="7" name="node STEP"/>
          <p:cNvSpPr/>
          <p:nvPr/>
        </p:nvSpPr>
        <p:spPr>
          <a:xfrm>
            <a:off x="3657600" y="1600200"/>
            <a:ext cx="2377440" cy="118872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/>
        </p:spPr>
      </p:sp>
      <p:sp>
        <p:nvSpPr>
          <p:cNvPr id="8" name="dot STEP"/>
          <p:cNvSpPr/>
          <p:nvPr/>
        </p:nvSpPr>
        <p:spPr>
          <a:xfrm>
            <a:off x="3840480" y="1783080"/>
            <a:ext cx="329184" cy="329184"/>
          </a:xfrm>
          <a:prstGeom prst="ellipse">
            <a:avLst/>
          </a:prstGeom>
          <a:solidFill>
            <a:srgbClr val="FFB020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297680" y="1764792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2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3840480" y="224028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Görünürlük ücretli işe dönüşür</a:t>
            </a:r>
            <a:endParaRPr lang="en-US" sz="1200" dirty="0"/>
          </a:p>
        </p:txBody>
      </p:sp>
      <p:sp>
        <p:nvSpPr>
          <p:cNvPr id="11" name="node INTO"/>
          <p:cNvSpPr/>
          <p:nvPr/>
        </p:nvSpPr>
        <p:spPr>
          <a:xfrm>
            <a:off x="3657600" y="3154680"/>
            <a:ext cx="2377440" cy="118872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/>
        </p:spPr>
      </p:sp>
      <p:sp>
        <p:nvSpPr>
          <p:cNvPr id="12" name="dot INTO"/>
          <p:cNvSpPr/>
          <p:nvPr/>
        </p:nvSpPr>
        <p:spPr>
          <a:xfrm>
            <a:off x="3840480" y="3337560"/>
            <a:ext cx="329184" cy="329184"/>
          </a:xfrm>
          <a:prstGeom prst="ellipse">
            <a:avLst/>
          </a:prstGeom>
          <a:solidFill>
            <a:srgbClr val="8B92FF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297680" y="3319272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2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INTO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3840480" y="379476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Mentor, işi ve projeyi hızlandırır</a:t>
            </a:r>
            <a:endParaRPr lang="en-US" sz="1200" dirty="0"/>
          </a:p>
        </p:txBody>
      </p:sp>
      <p:sp>
        <p:nvSpPr>
          <p:cNvPr id="15" name="node PATH"/>
          <p:cNvSpPr/>
          <p:nvPr/>
        </p:nvSpPr>
        <p:spPr>
          <a:xfrm>
            <a:off x="914400" y="3154680"/>
            <a:ext cx="2377440" cy="118872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/>
        </p:spPr>
      </p:sp>
      <p:sp>
        <p:nvSpPr>
          <p:cNvPr id="16" name="dot PATH"/>
          <p:cNvSpPr/>
          <p:nvPr/>
        </p:nvSpPr>
        <p:spPr>
          <a:xfrm>
            <a:off x="1097280" y="3337560"/>
            <a:ext cx="329184" cy="329184"/>
          </a:xfrm>
          <a:prstGeom prst="ellipse">
            <a:avLst/>
          </a:prstGeom>
          <a:solidFill>
            <a:srgbClr val="FF6B6B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1554480" y="3319272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2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PATH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1097280" y="379476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Şirket problemi, yeteneği ortaya çıkarır</a:t>
            </a:r>
            <a:endParaRPr lang="en-US" sz="1200" dirty="0"/>
          </a:p>
        </p:txBody>
      </p:sp>
      <p:sp>
        <p:nvSpPr>
          <p:cNvPr id="19" name="flow arrow"/>
          <p:cNvSpPr/>
          <p:nvPr/>
        </p:nvSpPr>
        <p:spPr>
          <a:xfrm>
            <a:off x="3337560" y="2194560"/>
            <a:ext cx="274320" cy="0"/>
          </a:xfrm>
          <a:prstGeom prst="line">
            <a:avLst/>
          </a:prstGeom>
          <a:noFill/>
          <a:ln w="25400">
            <a:solidFill>
              <a:srgbClr val="5B6390"/>
            </a:solidFill>
            <a:prstDash val="solid"/>
            <a:tailEnd type="triangle"/>
          </a:ln>
        </p:spPr>
      </p:sp>
      <p:sp>
        <p:nvSpPr>
          <p:cNvPr id="20" name="flow arrow"/>
          <p:cNvSpPr/>
          <p:nvPr/>
        </p:nvSpPr>
        <p:spPr>
          <a:xfrm>
            <a:off x="4846320" y="2834640"/>
            <a:ext cx="0" cy="274320"/>
          </a:xfrm>
          <a:prstGeom prst="line">
            <a:avLst/>
          </a:prstGeom>
          <a:noFill/>
          <a:ln w="25400">
            <a:solidFill>
              <a:srgbClr val="5B6390"/>
            </a:solidFill>
            <a:prstDash val="solid"/>
            <a:tailEnd type="triangle"/>
          </a:ln>
        </p:spPr>
      </p:sp>
      <p:sp>
        <p:nvSpPr>
          <p:cNvPr id="21" name="flow arrow"/>
          <p:cNvSpPr/>
          <p:nvPr/>
        </p:nvSpPr>
        <p:spPr>
          <a:xfrm flipH="1">
            <a:off x="3337560" y="3749040"/>
            <a:ext cx="274320" cy="0"/>
          </a:xfrm>
          <a:prstGeom prst="line">
            <a:avLst/>
          </a:prstGeom>
          <a:noFill/>
          <a:ln w="25400">
            <a:solidFill>
              <a:srgbClr val="5B6390"/>
            </a:solidFill>
            <a:prstDash val="solid"/>
            <a:tailEnd type="triangle"/>
          </a:ln>
        </p:spPr>
      </p:sp>
      <p:sp>
        <p:nvSpPr>
          <p:cNvPr id="22" name="flow arrow"/>
          <p:cNvSpPr/>
          <p:nvPr/>
        </p:nvSpPr>
        <p:spPr>
          <a:xfrm flipV="1">
            <a:off x="2103120" y="2834640"/>
            <a:ext cx="0" cy="274320"/>
          </a:xfrm>
          <a:prstGeom prst="line">
            <a:avLst/>
          </a:prstGeom>
          <a:noFill/>
          <a:ln w="25400">
            <a:solidFill>
              <a:srgbClr val="5B6390"/>
            </a:solidFill>
            <a:prstDash val="solid"/>
            <a:tailEnd type="triangle"/>
          </a:ln>
        </p:spPr>
      </p:sp>
      <p:sp>
        <p:nvSpPr>
          <p:cNvPr id="23" name="flywheel result"/>
          <p:cNvSpPr/>
          <p:nvPr/>
        </p:nvSpPr>
        <p:spPr>
          <a:xfrm>
            <a:off x="6492240" y="1600200"/>
            <a:ext cx="2103120" cy="2743200"/>
          </a:xfrm>
          <a:prstGeom prst="roundRect">
            <a:avLst>
              <a:gd name="adj" fmla="val 5217"/>
            </a:avLst>
          </a:prstGeom>
          <a:solidFill>
            <a:srgbClr val="0F1222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6675120" y="178308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B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Sonuç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6675120" y="2148840"/>
            <a:ext cx="17830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Tek profilde birikmiş, doğrulanmış iş geçmişi. Şirketlerin ödeme yapmaya razı olduğu veri.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39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Değer nasıl gelire dönüşür</a:t>
            </a:r>
            <a:endParaRPr lang="en-US" sz="3000" dirty="0"/>
          </a:p>
        </p:txBody>
      </p:sp>
      <p:sp>
        <p:nvSpPr>
          <p:cNvPr id="3" name="rev card 0"/>
          <p:cNvSpPr/>
          <p:nvPr/>
        </p:nvSpPr>
        <p:spPr>
          <a:xfrm>
            <a:off x="548640" y="1371600"/>
            <a:ext cx="3840480" cy="1463040"/>
          </a:xfrm>
          <a:prstGeom prst="roundRect">
            <a:avLst>
              <a:gd name="adj" fmla="val 7500"/>
            </a:avLst>
          </a:prstGeom>
          <a:solidFill>
            <a:srgbClr val="1C2244"/>
          </a:solidFill>
          <a:ln/>
        </p:spPr>
      </p:sp>
      <p:sp>
        <p:nvSpPr>
          <p:cNvPr id="4" name="rev 0 badge"/>
          <p:cNvSpPr/>
          <p:nvPr/>
        </p:nvSpPr>
        <p:spPr>
          <a:xfrm>
            <a:off x="777240" y="1600200"/>
            <a:ext cx="566928" cy="566928"/>
          </a:xfrm>
          <a:prstGeom prst="ellipse">
            <a:avLst/>
          </a:prstGeom>
          <a:solidFill>
            <a:srgbClr val="FFB020"/>
          </a:solidFill>
          <a:ln/>
        </p:spPr>
      </p:sp>
      <p:pic>
        <p:nvPicPr>
          <p:cNvPr id="5" name="rev 0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8972" y="1741932"/>
            <a:ext cx="283464" cy="28346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554480" y="155448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İş komisyonu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1554480" y="1901952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A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STEP'te freelancer iş bedelinden %10 platform payı.</a:t>
            </a:r>
            <a:endParaRPr lang="en-US" sz="1200" dirty="0"/>
          </a:p>
        </p:txBody>
      </p:sp>
      <p:sp>
        <p:nvSpPr>
          <p:cNvPr id="8" name="chip KARARLAŞTIRILDI"/>
          <p:cNvSpPr/>
          <p:nvPr/>
        </p:nvSpPr>
        <p:spPr>
          <a:xfrm>
            <a:off x="1554480" y="2487168"/>
            <a:ext cx="1371600" cy="256032"/>
          </a:xfrm>
          <a:prstGeom prst="roundRect">
            <a:avLst>
              <a:gd name="adj" fmla="val 50000"/>
            </a:avLst>
          </a:prstGeom>
          <a:solidFill>
            <a:srgbClr val="FFB020"/>
          </a:solidFill>
          <a:ln w="12700">
            <a:solidFill>
              <a:srgbClr val="FFB020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1554480" y="248716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KARARLAŞTIRILDI</a:t>
            </a:r>
            <a:endParaRPr lang="en-US" sz="1000" dirty="0"/>
          </a:p>
        </p:txBody>
      </p:sp>
      <p:sp>
        <p:nvSpPr>
          <p:cNvPr id="10" name="rev card 1"/>
          <p:cNvSpPr/>
          <p:nvPr/>
        </p:nvSpPr>
        <p:spPr>
          <a:xfrm>
            <a:off x="4572000" y="1371600"/>
            <a:ext cx="3840480" cy="1463040"/>
          </a:xfrm>
          <a:prstGeom prst="roundRect">
            <a:avLst>
              <a:gd name="adj" fmla="val 7500"/>
            </a:avLst>
          </a:prstGeom>
          <a:solidFill>
            <a:srgbClr val="1C2244"/>
          </a:solidFill>
          <a:ln/>
        </p:spPr>
      </p:sp>
      <p:sp>
        <p:nvSpPr>
          <p:cNvPr id="11" name="rev 1 badge"/>
          <p:cNvSpPr/>
          <p:nvPr/>
        </p:nvSpPr>
        <p:spPr>
          <a:xfrm>
            <a:off x="4800600" y="1600200"/>
            <a:ext cx="566928" cy="566928"/>
          </a:xfrm>
          <a:prstGeom prst="ellipse">
            <a:avLst/>
          </a:prstGeom>
          <a:solidFill>
            <a:srgbClr val="FFB020"/>
          </a:solidFill>
          <a:ln/>
        </p:spPr>
      </p:sp>
      <p:pic>
        <p:nvPicPr>
          <p:cNvPr id="12" name="rev 1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42332" y="1741932"/>
            <a:ext cx="283464" cy="283464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5577840" y="155448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Kredi satışı</a:t>
            </a:r>
            <a:endParaRPr lang="en-US" sz="1600" dirty="0"/>
          </a:p>
        </p:txBody>
      </p:sp>
      <p:sp>
        <p:nvSpPr>
          <p:cNvPr id="14" name="Text 10"/>
          <p:cNvSpPr txBox="1"/>
          <p:nvPr/>
        </p:nvSpPr>
        <p:spPr>
          <a:xfrm>
            <a:off x="5577840" y="1901952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A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İlan açma, başvuru ve öne çıkarma kredi ile; krediler satın alınabilir.</a:t>
            </a:r>
            <a:endParaRPr lang="en-US" sz="1200" dirty="0"/>
          </a:p>
        </p:txBody>
      </p:sp>
      <p:sp>
        <p:nvSpPr>
          <p:cNvPr id="15" name="chip KARARLAŞTIRILDI"/>
          <p:cNvSpPr/>
          <p:nvPr/>
        </p:nvSpPr>
        <p:spPr>
          <a:xfrm>
            <a:off x="5577840" y="2487168"/>
            <a:ext cx="1371600" cy="256032"/>
          </a:xfrm>
          <a:prstGeom prst="roundRect">
            <a:avLst>
              <a:gd name="adj" fmla="val 50000"/>
            </a:avLst>
          </a:prstGeom>
          <a:solidFill>
            <a:srgbClr val="FFB020"/>
          </a:solidFill>
          <a:ln w="12700">
            <a:solidFill>
              <a:srgbClr val="FFB020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5577840" y="248716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KARARLAŞTIRILDI</a:t>
            </a:r>
            <a:endParaRPr lang="en-US" sz="1000" dirty="0"/>
          </a:p>
        </p:txBody>
      </p:sp>
      <p:sp>
        <p:nvSpPr>
          <p:cNvPr id="17" name="rev card 2"/>
          <p:cNvSpPr/>
          <p:nvPr/>
        </p:nvSpPr>
        <p:spPr>
          <a:xfrm>
            <a:off x="548640" y="2971800"/>
            <a:ext cx="3840480" cy="1463040"/>
          </a:xfrm>
          <a:prstGeom prst="roundRect">
            <a:avLst>
              <a:gd name="adj" fmla="val 7500"/>
            </a:avLst>
          </a:prstGeom>
          <a:solidFill>
            <a:srgbClr val="1C2244"/>
          </a:solidFill>
          <a:ln/>
        </p:spPr>
      </p:sp>
      <p:sp>
        <p:nvSpPr>
          <p:cNvPr id="18" name="rev 2 badge"/>
          <p:cNvSpPr/>
          <p:nvPr/>
        </p:nvSpPr>
        <p:spPr>
          <a:xfrm>
            <a:off x="777240" y="3200400"/>
            <a:ext cx="566928" cy="566928"/>
          </a:xfrm>
          <a:prstGeom prst="ellipse">
            <a:avLst/>
          </a:prstGeom>
          <a:solidFill>
            <a:srgbClr val="8B92FF"/>
          </a:solidFill>
          <a:ln/>
        </p:spPr>
      </p:sp>
      <p:pic>
        <p:nvPicPr>
          <p:cNvPr id="19" name="rev 2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8972" y="3342132"/>
            <a:ext cx="283464" cy="283464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1554480" y="315468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Mentorluk işlemleri</a:t>
            </a:r>
            <a:endParaRPr lang="en-US" sz="1600" dirty="0"/>
          </a:p>
        </p:txBody>
      </p:sp>
      <p:sp>
        <p:nvSpPr>
          <p:cNvPr id="21" name="Text 16"/>
          <p:cNvSpPr txBox="1"/>
          <p:nvPr/>
        </p:nvSpPr>
        <p:spPr>
          <a:xfrm>
            <a:off x="1554480" y="3502152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A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Ücretli mentorluk eşleşmelerinden işlem payı.</a:t>
            </a:r>
            <a:endParaRPr lang="en-US" sz="1200" dirty="0"/>
          </a:p>
        </p:txBody>
      </p:sp>
      <p:sp>
        <p:nvSpPr>
          <p:cNvPr id="22" name="chip PLANLANAN"/>
          <p:cNvSpPr/>
          <p:nvPr/>
        </p:nvSpPr>
        <p:spPr>
          <a:xfrm>
            <a:off x="1554480" y="4087368"/>
            <a:ext cx="1371600" cy="256032"/>
          </a:xfrm>
          <a:prstGeom prst="roundRect">
            <a:avLst>
              <a:gd name="adj" fmla="val 50000"/>
            </a:avLst>
          </a:prstGeom>
          <a:solidFill>
            <a:srgbClr val="8B92FF"/>
          </a:solidFill>
          <a:ln w="12700">
            <a:solidFill>
              <a:srgbClr val="8B92FF"/>
            </a:solidFill>
            <a:prstDash val="solid"/>
          </a:ln>
        </p:spPr>
      </p:sp>
      <p:sp>
        <p:nvSpPr>
          <p:cNvPr id="23" name="Text 18"/>
          <p:cNvSpPr txBox="1"/>
          <p:nvPr/>
        </p:nvSpPr>
        <p:spPr>
          <a:xfrm>
            <a:off x="1554480" y="408736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PLANLANAN</a:t>
            </a:r>
            <a:endParaRPr lang="en-US" sz="1000" dirty="0"/>
          </a:p>
        </p:txBody>
      </p:sp>
      <p:sp>
        <p:nvSpPr>
          <p:cNvPr id="24" name="rev card 3"/>
          <p:cNvSpPr/>
          <p:nvPr/>
        </p:nvSpPr>
        <p:spPr>
          <a:xfrm>
            <a:off x="4572000" y="2971800"/>
            <a:ext cx="3840480" cy="1463040"/>
          </a:xfrm>
          <a:prstGeom prst="roundRect">
            <a:avLst>
              <a:gd name="adj" fmla="val 7500"/>
            </a:avLst>
          </a:prstGeom>
          <a:solidFill>
            <a:srgbClr val="1C2244"/>
          </a:solidFill>
          <a:ln/>
        </p:spPr>
      </p:sp>
      <p:sp>
        <p:nvSpPr>
          <p:cNvPr id="25" name="rev 3 badge"/>
          <p:cNvSpPr/>
          <p:nvPr/>
        </p:nvSpPr>
        <p:spPr>
          <a:xfrm>
            <a:off x="4800600" y="3200400"/>
            <a:ext cx="566928" cy="566928"/>
          </a:xfrm>
          <a:prstGeom prst="ellipse">
            <a:avLst/>
          </a:prstGeom>
          <a:solidFill>
            <a:srgbClr val="8B92FF"/>
          </a:solidFill>
          <a:ln/>
        </p:spPr>
      </p:sp>
      <p:pic>
        <p:nvPicPr>
          <p:cNvPr id="26" name="rev 3 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42332" y="3342132"/>
            <a:ext cx="283464" cy="283464"/>
          </a:xfrm>
          <a:prstGeom prst="rect">
            <a:avLst/>
          </a:prstGeom>
        </p:spPr>
      </p:pic>
      <p:sp>
        <p:nvSpPr>
          <p:cNvPr id="27" name="Text 21"/>
          <p:cNvSpPr txBox="1"/>
          <p:nvPr/>
        </p:nvSpPr>
        <p:spPr>
          <a:xfrm>
            <a:off x="5577840" y="315468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Kurumsal ortaklık</a:t>
            </a:r>
            <a:endParaRPr lang="en-US" sz="1600" dirty="0"/>
          </a:p>
        </p:txBody>
      </p:sp>
      <p:sp>
        <p:nvSpPr>
          <p:cNvPr id="28" name="Text 22"/>
          <p:cNvSpPr txBox="1"/>
          <p:nvPr/>
        </p:nvSpPr>
        <p:spPr>
          <a:xfrm>
            <a:off x="5577840" y="3502152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A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Şirketler için aday keşfi, problem sunma ve PATH etkinlikleri.</a:t>
            </a:r>
            <a:endParaRPr lang="en-US" sz="1200" dirty="0"/>
          </a:p>
        </p:txBody>
      </p:sp>
      <p:sp>
        <p:nvSpPr>
          <p:cNvPr id="29" name="chip PLANLANAN"/>
          <p:cNvSpPr/>
          <p:nvPr/>
        </p:nvSpPr>
        <p:spPr>
          <a:xfrm>
            <a:off x="5577840" y="4087368"/>
            <a:ext cx="1371600" cy="256032"/>
          </a:xfrm>
          <a:prstGeom prst="roundRect">
            <a:avLst>
              <a:gd name="adj" fmla="val 50000"/>
            </a:avLst>
          </a:prstGeom>
          <a:solidFill>
            <a:srgbClr val="8B92FF"/>
          </a:solidFill>
          <a:ln w="12700">
            <a:solidFill>
              <a:srgbClr val="8B92FF"/>
            </a:solidFill>
            <a:prstDash val="solid"/>
          </a:ln>
        </p:spPr>
      </p:sp>
      <p:sp>
        <p:nvSpPr>
          <p:cNvPr id="30" name="Text 24"/>
          <p:cNvSpPr txBox="1"/>
          <p:nvPr/>
        </p:nvSpPr>
        <p:spPr>
          <a:xfrm>
            <a:off x="5577840" y="408736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PLANLANAN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AA3C7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Boşluk tam burada</a:t>
            </a:r>
            <a:endParaRPr lang="en-US" sz="3000" dirty="0"/>
          </a:p>
        </p:txBody>
      </p:sp>
      <p:graphicFrame>
        <p:nvGraphicFramePr>
          <p:cNvPr id="10" name="comparison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8046720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1645920"/>
                <a:gridCol w="1645920"/>
                <a:gridCol w="164592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2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Klasik freelance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2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Eğitim platformları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2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4-Product One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22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Öğrenciye özel ve doğrulanmış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9AA3C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B0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◐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2DD4B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Gerçek müşteri ve gerçek ödeme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2DD4B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9AA3C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2DD4B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Mentor desteği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9AA3C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B0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◐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2DD4B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Kanıtlanabilir portföy ve iş geçmişi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B0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◐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9AA3C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2DD4B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Topluluk ve ekip kurma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9AA3C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B0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◐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2DD4B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Açık kaynak ve şeffaf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9AA3C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9AA3C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2DD4B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443484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tam karşılıyor   ◐ kısmen   – karşılamıyor.  Kategori düzeyinde genel değerlendirmedir.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39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Kopyalanması zor olan: doğrulanmış iş geçmişi</a:t>
            </a:r>
            <a:endParaRPr lang="en-US" sz="3000" dirty="0"/>
          </a:p>
        </p:txBody>
      </p:sp>
      <p:sp>
        <p:nvSpPr>
          <p:cNvPr id="3" name="moat card 0"/>
          <p:cNvSpPr/>
          <p:nvPr/>
        </p:nvSpPr>
        <p:spPr>
          <a:xfrm>
            <a:off x="548640" y="1554480"/>
            <a:ext cx="2560320" cy="2743200"/>
          </a:xfrm>
          <a:prstGeom prst="roundRect">
            <a:avLst>
              <a:gd name="adj" fmla="val 4286"/>
            </a:avLst>
          </a:prstGeom>
          <a:solidFill>
            <a:srgbClr val="1C2244"/>
          </a:solidFill>
          <a:ln/>
        </p:spPr>
      </p:sp>
      <p:sp>
        <p:nvSpPr>
          <p:cNvPr id="4" name="moat 0 badge"/>
          <p:cNvSpPr/>
          <p:nvPr/>
        </p:nvSpPr>
        <p:spPr>
          <a:xfrm>
            <a:off x="822960" y="1783080"/>
            <a:ext cx="685800" cy="685800"/>
          </a:xfrm>
          <a:prstGeom prst="ellipse">
            <a:avLst/>
          </a:prstGeom>
          <a:solidFill>
            <a:srgbClr val="FFB020"/>
          </a:solidFill>
          <a:ln/>
        </p:spPr>
      </p:sp>
      <p:pic>
        <p:nvPicPr>
          <p:cNvPr id="5" name="moat 0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4410" y="1954530"/>
            <a:ext cx="342900" cy="3429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22960" y="265176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 hendeği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3108960"/>
            <a:ext cx="2057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A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 tamamlanan iş, kimsenin sahip olmadığı doğrulanmış yetenek verisi üretir.</a:t>
            </a:r>
            <a:endParaRPr lang="en-US" sz="1300" dirty="0"/>
          </a:p>
        </p:txBody>
      </p:sp>
      <p:sp>
        <p:nvSpPr>
          <p:cNvPr id="8" name="moat card 1"/>
          <p:cNvSpPr/>
          <p:nvPr/>
        </p:nvSpPr>
        <p:spPr>
          <a:xfrm>
            <a:off x="3291840" y="1554480"/>
            <a:ext cx="2560320" cy="2743200"/>
          </a:xfrm>
          <a:prstGeom prst="roundRect">
            <a:avLst>
              <a:gd name="adj" fmla="val 4286"/>
            </a:avLst>
          </a:prstGeom>
          <a:solidFill>
            <a:srgbClr val="1C2244"/>
          </a:solidFill>
          <a:ln/>
        </p:spPr>
      </p:sp>
      <p:sp>
        <p:nvSpPr>
          <p:cNvPr id="9" name="moat 1 badge"/>
          <p:cNvSpPr/>
          <p:nvPr/>
        </p:nvSpPr>
        <p:spPr>
          <a:xfrm>
            <a:off x="3566160" y="1783080"/>
            <a:ext cx="685800" cy="685800"/>
          </a:xfrm>
          <a:prstGeom prst="ellipse">
            <a:avLst/>
          </a:prstGeom>
          <a:solidFill>
            <a:srgbClr val="FFB020"/>
          </a:solidFill>
          <a:ln/>
        </p:spPr>
      </p:sp>
      <p:pic>
        <p:nvPicPr>
          <p:cNvPr id="10" name="moat 1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37610" y="1954530"/>
            <a:ext cx="342900" cy="34290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3566160" y="265176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Ağ etkisi</a:t>
            </a:r>
            <a:endParaRPr lang="en-US" sz="1800" dirty="0"/>
          </a:p>
        </p:txBody>
      </p:sp>
      <p:sp>
        <p:nvSpPr>
          <p:cNvPr id="12" name="Text 8"/>
          <p:cNvSpPr txBox="1"/>
          <p:nvPr/>
        </p:nvSpPr>
        <p:spPr>
          <a:xfrm>
            <a:off x="3566160" y="3108960"/>
            <a:ext cx="2057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A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Öğrenci, mentor ve şirket çoğaldıkça her taraf için değer artar.</a:t>
            </a:r>
            <a:endParaRPr lang="en-US" sz="1300" dirty="0"/>
          </a:p>
        </p:txBody>
      </p:sp>
      <p:sp>
        <p:nvSpPr>
          <p:cNvPr id="13" name="moat card 2"/>
          <p:cNvSpPr/>
          <p:nvPr/>
        </p:nvSpPr>
        <p:spPr>
          <a:xfrm>
            <a:off x="6035040" y="1554480"/>
            <a:ext cx="2560320" cy="2743200"/>
          </a:xfrm>
          <a:prstGeom prst="roundRect">
            <a:avLst>
              <a:gd name="adj" fmla="val 4286"/>
            </a:avLst>
          </a:prstGeom>
          <a:solidFill>
            <a:srgbClr val="1C2244"/>
          </a:solidFill>
          <a:ln/>
        </p:spPr>
      </p:sp>
      <p:sp>
        <p:nvSpPr>
          <p:cNvPr id="14" name="moat 2 badge"/>
          <p:cNvSpPr/>
          <p:nvPr/>
        </p:nvSpPr>
        <p:spPr>
          <a:xfrm>
            <a:off x="6309360" y="1783080"/>
            <a:ext cx="685800" cy="685800"/>
          </a:xfrm>
          <a:prstGeom prst="ellipse">
            <a:avLst/>
          </a:prstGeom>
          <a:solidFill>
            <a:srgbClr val="FFB020"/>
          </a:solidFill>
          <a:ln/>
        </p:spPr>
      </p:sp>
      <p:pic>
        <p:nvPicPr>
          <p:cNvPr id="15" name="moat 2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0810" y="1954530"/>
            <a:ext cx="342900" cy="34290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6309360" y="265176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Açık kaynak güveni</a:t>
            </a:r>
            <a:endParaRPr lang="en-US" sz="1800" dirty="0"/>
          </a:p>
        </p:txBody>
      </p:sp>
      <p:sp>
        <p:nvSpPr>
          <p:cNvPr id="17" name="Text 12"/>
          <p:cNvSpPr txBox="1"/>
          <p:nvPr/>
        </p:nvSpPr>
        <p:spPr>
          <a:xfrm>
            <a:off x="6309360" y="3108960"/>
            <a:ext cx="2057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A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Şeffaf kod ve kararlar; topluluk katkısı ve denetlenebilirlik.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AA3C7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Büyüme aşamasındayız: ağ kuruluyor</a:t>
            </a:r>
            <a:endParaRPr lang="en-US" sz="3000" dirty="0"/>
          </a:p>
        </p:txBody>
      </p:sp>
      <p:sp>
        <p:nvSpPr>
          <p:cNvPr id="3" name="timeline line"/>
          <p:cNvSpPr/>
          <p:nvPr/>
        </p:nvSpPr>
        <p:spPr>
          <a:xfrm>
            <a:off x="731520" y="1828800"/>
            <a:ext cx="7680960" cy="0"/>
          </a:xfrm>
          <a:prstGeom prst="line">
            <a:avLst/>
          </a:prstGeom>
          <a:noFill/>
          <a:ln w="25400">
            <a:solidFill>
              <a:srgbClr val="5B6390"/>
            </a:solidFill>
            <a:prstDash val="solid"/>
          </a:ln>
        </p:spPr>
      </p:sp>
      <p:sp>
        <p:nvSpPr>
          <p:cNvPr id="4" name="milestone 0"/>
          <p:cNvSpPr/>
          <p:nvPr/>
        </p:nvSpPr>
        <p:spPr>
          <a:xfrm>
            <a:off x="731520" y="1682496"/>
            <a:ext cx="292608" cy="292608"/>
          </a:xfrm>
          <a:prstGeom prst="ellipse">
            <a:avLst/>
          </a:prstGeom>
          <a:solidFill>
            <a:srgbClr val="2DD4BF"/>
          </a:solidFill>
          <a:ln w="38100">
            <a:solidFill>
              <a:srgbClr val="F2F4F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214884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ŞİMDİ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514600"/>
            <a:ext cx="1783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5B6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yayında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5B6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canlıya hazırlık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5B6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Açık kaynak topluluk</a:t>
            </a:r>
            <a:endParaRPr lang="en-US" sz="1300" dirty="0"/>
          </a:p>
        </p:txBody>
      </p:sp>
      <p:sp>
        <p:nvSpPr>
          <p:cNvPr id="7" name="milestone 1"/>
          <p:cNvSpPr/>
          <p:nvPr/>
        </p:nvSpPr>
        <p:spPr>
          <a:xfrm>
            <a:off x="2743200" y="1682496"/>
            <a:ext cx="292608" cy="292608"/>
          </a:xfrm>
          <a:prstGeom prst="ellipse">
            <a:avLst/>
          </a:prstGeom>
          <a:solidFill>
            <a:srgbClr val="FFB020"/>
          </a:solidFill>
          <a:ln w="38100">
            <a:solidFill>
              <a:srgbClr val="F2F4F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743200" y="214884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SIRADAKİ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2743200" y="2514600"/>
            <a:ext cx="1783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5B6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üniversiteler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5B6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İlk ücretli işler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5B6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güvenlik ve ödeme doğrulaması</a:t>
            </a:r>
            <a:endParaRPr lang="en-US" sz="1300" dirty="0"/>
          </a:p>
        </p:txBody>
      </p:sp>
      <p:sp>
        <p:nvSpPr>
          <p:cNvPr id="10" name="milestone 2"/>
          <p:cNvSpPr/>
          <p:nvPr/>
        </p:nvSpPr>
        <p:spPr>
          <a:xfrm>
            <a:off x="4754880" y="1682496"/>
            <a:ext cx="292608" cy="292608"/>
          </a:xfrm>
          <a:prstGeom prst="ellipse">
            <a:avLst/>
          </a:prstGeom>
          <a:solidFill>
            <a:srgbClr val="8B92FF"/>
          </a:solidFill>
          <a:ln w="38100">
            <a:solidFill>
              <a:srgbClr val="F2F4F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754880" y="214884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ÖLÇEKLEME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4754880" y="2514600"/>
            <a:ext cx="1783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5B6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INTO mentorluk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5B6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Kurumsal ortaklar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5B6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Kullanıcı ve iş hacmi büyümesi</a:t>
            </a:r>
            <a:endParaRPr lang="en-US" sz="1300" dirty="0"/>
          </a:p>
        </p:txBody>
      </p:sp>
      <p:sp>
        <p:nvSpPr>
          <p:cNvPr id="13" name="milestone 3"/>
          <p:cNvSpPr/>
          <p:nvPr/>
        </p:nvSpPr>
        <p:spPr>
          <a:xfrm>
            <a:off x="6766560" y="1682496"/>
            <a:ext cx="292608" cy="292608"/>
          </a:xfrm>
          <a:prstGeom prst="ellipse">
            <a:avLst/>
          </a:prstGeom>
          <a:solidFill>
            <a:srgbClr val="FF6B6B"/>
          </a:solidFill>
          <a:ln w="38100">
            <a:solidFill>
              <a:srgbClr val="F2F4F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766560" y="214884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VİZYON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6766560" y="2514600"/>
            <a:ext cx="1783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5B6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 yarışmaları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5B6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Ulusal ölçek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5B6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Çok sektörlü ekosistem</a:t>
            </a:r>
            <a:endParaRPr lang="en-US" sz="1300" dirty="0"/>
          </a:p>
        </p:txBody>
      </p:sp>
      <p:sp>
        <p:nvSpPr>
          <p:cNvPr id="16" name="roadmap banner"/>
          <p:cNvSpPr/>
          <p:nvPr/>
        </p:nvSpPr>
        <p:spPr>
          <a:xfrm>
            <a:off x="548640" y="4023360"/>
            <a:ext cx="8046720" cy="548640"/>
          </a:xfrm>
          <a:prstGeom prst="roundRect">
            <a:avLst>
              <a:gd name="adj" fmla="val 20000"/>
            </a:avLst>
          </a:prstGeom>
          <a:solidFill>
            <a:srgbClr val="0F1222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22960" y="4023360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B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 adım bir sonrakinin kullanıcı, veri ve güven girdisidir.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39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Yatırım neyi açar?</a:t>
            </a:r>
            <a:endParaRPr lang="en-US" sz="3000" dirty="0"/>
          </a:p>
        </p:txBody>
      </p:sp>
      <p:sp>
        <p:nvSpPr>
          <p:cNvPr id="3" name="use card 0"/>
          <p:cNvSpPr/>
          <p:nvPr/>
        </p:nvSpPr>
        <p:spPr>
          <a:xfrm>
            <a:off x="548640" y="1371600"/>
            <a:ext cx="3840480" cy="1463040"/>
          </a:xfrm>
          <a:prstGeom prst="roundRect">
            <a:avLst>
              <a:gd name="adj" fmla="val 7500"/>
            </a:avLst>
          </a:prstGeom>
          <a:solidFill>
            <a:srgbClr val="1C2244"/>
          </a:solidFill>
          <a:ln/>
        </p:spPr>
      </p:sp>
      <p:sp>
        <p:nvSpPr>
          <p:cNvPr id="4" name="use 0 badge"/>
          <p:cNvSpPr/>
          <p:nvPr/>
        </p:nvSpPr>
        <p:spPr>
          <a:xfrm>
            <a:off x="777240" y="1600200"/>
            <a:ext cx="566928" cy="566928"/>
          </a:xfrm>
          <a:prstGeom prst="ellipse">
            <a:avLst/>
          </a:prstGeom>
          <a:solidFill>
            <a:srgbClr val="FFB020"/>
          </a:solidFill>
          <a:ln/>
        </p:spPr>
      </p:sp>
      <p:pic>
        <p:nvPicPr>
          <p:cNvPr id="5" name="use 0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8972" y="1741932"/>
            <a:ext cx="283464" cy="28346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554480" y="155448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Güven altyapısı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1554480" y="192024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A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Bağımsız güvenlik denetimi, canlı ödeme sağlayıcı doğrulaması, öğrenci doğrulama.</a:t>
            </a:r>
            <a:endParaRPr lang="en-US" sz="1200" dirty="0"/>
          </a:p>
        </p:txBody>
      </p:sp>
      <p:sp>
        <p:nvSpPr>
          <p:cNvPr id="8" name="use card 1"/>
          <p:cNvSpPr/>
          <p:nvPr/>
        </p:nvSpPr>
        <p:spPr>
          <a:xfrm>
            <a:off x="4572000" y="1371600"/>
            <a:ext cx="3840480" cy="1463040"/>
          </a:xfrm>
          <a:prstGeom prst="roundRect">
            <a:avLst>
              <a:gd name="adj" fmla="val 7500"/>
            </a:avLst>
          </a:prstGeom>
          <a:solidFill>
            <a:srgbClr val="1C2244"/>
          </a:solidFill>
          <a:ln/>
        </p:spPr>
      </p:sp>
      <p:sp>
        <p:nvSpPr>
          <p:cNvPr id="9" name="use 1 badge"/>
          <p:cNvSpPr/>
          <p:nvPr/>
        </p:nvSpPr>
        <p:spPr>
          <a:xfrm>
            <a:off x="4800600" y="1600200"/>
            <a:ext cx="566928" cy="566928"/>
          </a:xfrm>
          <a:prstGeom prst="ellipse">
            <a:avLst/>
          </a:prstGeom>
          <a:solidFill>
            <a:srgbClr val="FFB020"/>
          </a:solidFill>
          <a:ln/>
        </p:spPr>
      </p:sp>
      <p:pic>
        <p:nvPicPr>
          <p:cNvPr id="10" name="use 1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42332" y="1741932"/>
            <a:ext cx="283464" cy="283464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577840" y="155448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ve büyüme</a:t>
            </a:r>
            <a:endParaRPr lang="en-US" sz="1600" dirty="0"/>
          </a:p>
        </p:txBody>
      </p:sp>
      <p:sp>
        <p:nvSpPr>
          <p:cNvPr id="12" name="Text 8"/>
          <p:cNvSpPr txBox="1"/>
          <p:nvPr/>
        </p:nvSpPr>
        <p:spPr>
          <a:xfrm>
            <a:off x="5577840" y="192024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A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Üniversite pilotları, topluluk yönetimi ve kullanıcı edinimi.</a:t>
            </a:r>
            <a:endParaRPr lang="en-US" sz="1200" dirty="0"/>
          </a:p>
        </p:txBody>
      </p:sp>
      <p:sp>
        <p:nvSpPr>
          <p:cNvPr id="13" name="use card 2"/>
          <p:cNvSpPr/>
          <p:nvPr/>
        </p:nvSpPr>
        <p:spPr>
          <a:xfrm>
            <a:off x="548640" y="2971800"/>
            <a:ext cx="3840480" cy="1463040"/>
          </a:xfrm>
          <a:prstGeom prst="roundRect">
            <a:avLst>
              <a:gd name="adj" fmla="val 7500"/>
            </a:avLst>
          </a:prstGeom>
          <a:solidFill>
            <a:srgbClr val="1C2244"/>
          </a:solidFill>
          <a:ln/>
        </p:spPr>
      </p:sp>
      <p:sp>
        <p:nvSpPr>
          <p:cNvPr id="14" name="use 2 badge"/>
          <p:cNvSpPr/>
          <p:nvPr/>
        </p:nvSpPr>
        <p:spPr>
          <a:xfrm>
            <a:off x="777240" y="3200400"/>
            <a:ext cx="566928" cy="566928"/>
          </a:xfrm>
          <a:prstGeom prst="ellipse">
            <a:avLst/>
          </a:prstGeom>
          <a:solidFill>
            <a:srgbClr val="FFB020"/>
          </a:solidFill>
          <a:ln/>
        </p:spPr>
      </p:sp>
      <p:pic>
        <p:nvPicPr>
          <p:cNvPr id="15" name="use 2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8972" y="3342132"/>
            <a:ext cx="283464" cy="283464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554480" y="315468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Şirket ve mentor ağı</a:t>
            </a:r>
            <a:endParaRPr lang="en-US" sz="1600" dirty="0"/>
          </a:p>
        </p:txBody>
      </p:sp>
      <p:sp>
        <p:nvSpPr>
          <p:cNvPr id="17" name="Text 12"/>
          <p:cNvSpPr txBox="1"/>
          <p:nvPr/>
        </p:nvSpPr>
        <p:spPr>
          <a:xfrm>
            <a:off x="1554480" y="352044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A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Kurumsal ortaklar, mentor kazanımı ve INTO'nun hayata geçmesi.</a:t>
            </a:r>
            <a:endParaRPr lang="en-US" sz="1200" dirty="0"/>
          </a:p>
        </p:txBody>
      </p:sp>
      <p:sp>
        <p:nvSpPr>
          <p:cNvPr id="18" name="use card 3"/>
          <p:cNvSpPr/>
          <p:nvPr/>
        </p:nvSpPr>
        <p:spPr>
          <a:xfrm>
            <a:off x="4572000" y="2971800"/>
            <a:ext cx="3840480" cy="1463040"/>
          </a:xfrm>
          <a:prstGeom prst="roundRect">
            <a:avLst>
              <a:gd name="adj" fmla="val 7500"/>
            </a:avLst>
          </a:prstGeom>
          <a:solidFill>
            <a:srgbClr val="1C2244"/>
          </a:solidFill>
          <a:ln/>
        </p:spPr>
      </p:sp>
      <p:sp>
        <p:nvSpPr>
          <p:cNvPr id="19" name="use 3 badge"/>
          <p:cNvSpPr/>
          <p:nvPr/>
        </p:nvSpPr>
        <p:spPr>
          <a:xfrm>
            <a:off x="4800600" y="3200400"/>
            <a:ext cx="566928" cy="566928"/>
          </a:xfrm>
          <a:prstGeom prst="ellipse">
            <a:avLst/>
          </a:prstGeom>
          <a:solidFill>
            <a:srgbClr val="FFB020"/>
          </a:solidFill>
          <a:ln/>
        </p:spPr>
      </p:sp>
      <p:pic>
        <p:nvPicPr>
          <p:cNvPr id="20" name="use 3 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42332" y="3342132"/>
            <a:ext cx="283464" cy="283464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5577840" y="315468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Yeni ürün hatları</a:t>
            </a:r>
            <a:endParaRPr lang="en-US" sz="1600" dirty="0"/>
          </a:p>
        </p:txBody>
      </p:sp>
      <p:sp>
        <p:nvSpPr>
          <p:cNvPr id="22" name="Text 16"/>
          <p:cNvSpPr txBox="1"/>
          <p:nvPr/>
        </p:nvSpPr>
        <p:spPr>
          <a:xfrm>
            <a:off x="5577840" y="352044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A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 yarışma altyapısı, erişilebilirlik ve çok dillilik.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AA3C7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low 1"/>
          <p:cNvSpPr/>
          <p:nvPr/>
        </p:nvSpPr>
        <p:spPr>
          <a:xfrm>
            <a:off x="5486400" y="-1005840"/>
            <a:ext cx="5120640" cy="5120640"/>
          </a:xfrm>
          <a:prstGeom prst="ellipse">
            <a:avLst/>
          </a:prstGeom>
          <a:solidFill>
            <a:srgbClr val="FFB020">
              <a:alpha val="16000"/>
            </a:srgbClr>
          </a:solidFill>
          <a:ln/>
        </p:spPr>
      </p:sp>
      <p:sp>
        <p:nvSpPr>
          <p:cNvPr id="3" name="glow 2"/>
          <p:cNvSpPr/>
          <p:nvPr/>
        </p:nvSpPr>
        <p:spPr>
          <a:xfrm>
            <a:off x="7132320" y="2651760"/>
            <a:ext cx="3108960" cy="3108960"/>
          </a:xfrm>
          <a:prstGeom prst="ellipse">
            <a:avLst/>
          </a:prstGeom>
          <a:solidFill>
            <a:srgbClr val="2DD4BF">
              <a:alpha val="18000"/>
            </a:srgbClr>
          </a:solidFill>
          <a:ln/>
        </p:spPr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640080" y="1234440"/>
            <a:ext cx="58521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chemeClr val="bg1"/>
                </a:solidFill>
              </a:rPr>
              <a:t>Bir nesli işsizlikle değil, deneyimle başlatalım.</a:t>
            </a:r>
            <a:endParaRPr lang="en-US" sz="38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3246120"/>
            <a:ext cx="5303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9A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Birlikte kuralım: öğrenciyi, mentoru ve şirketi aynı ekosistemde buluşturan altyapıyı.</a:t>
            </a:r>
            <a:endParaRPr lang="en-US" sz="1800" dirty="0"/>
          </a:p>
        </p:txBody>
      </p:sp>
      <p:sp>
        <p:nvSpPr>
          <p:cNvPr id="6" name="chip github.com/caglarkc/4-product-one-community"/>
          <p:cNvSpPr/>
          <p:nvPr/>
        </p:nvSpPr>
        <p:spPr>
          <a:xfrm>
            <a:off x="640080" y="4206240"/>
            <a:ext cx="3749040" cy="256032"/>
          </a:xfrm>
          <a:prstGeom prst="roundRect">
            <a:avLst>
              <a:gd name="adj" fmla="val 50000"/>
            </a:avLst>
          </a:prstGeom>
          <a:solidFill>
            <a:srgbClr val="FFB020"/>
          </a:solidFill>
          <a:ln w="12700">
            <a:solidFill>
              <a:srgbClr val="FFB02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420624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github.com/caglarkc/4-product-one-community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4PC Pitch">
  <a:themeElements>
    <a:clrScheme name="4PC Pitch">
      <a:dk1>
        <a:srgbClr val="0F1222"/>
      </a:dk1>
      <a:lt1>
        <a:srgbClr val="FFFFFF"/>
      </a:lt1>
      <a:dk2>
        <a:srgbClr val="1C2244"/>
      </a:dk2>
      <a:lt2>
        <a:srgbClr val="F2F4FB"/>
      </a:lt2>
      <a:accent1>
        <a:srgbClr val="FFB020"/>
      </a:accent1>
      <a:accent2>
        <a:srgbClr val="2DD4BF"/>
      </a:accent2>
      <a:accent3>
        <a:srgbClr val="8B92FF"/>
      </a:accent3>
      <a:accent4>
        <a:srgbClr val="FF6B6B"/>
      </a:accent4>
      <a:accent5>
        <a:srgbClr val="9AA3C7"/>
      </a:accent5>
      <a:accent6>
        <a:srgbClr val="5B6390"/>
      </a:accent6>
      <a:hlink>
        <a:srgbClr val="8B92FF"/>
      </a:hlink>
      <a:folHlink>
        <a:srgbClr val="9AA3C7"/>
      </a:folHlink>
    </a:clrScheme>
    <a:fontScheme name="4PC Pitch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4-Product One Community — Yatırımcı Sunumu</dc:title>
  <dc:subject>PptxGenJS Presentation</dc:subject>
  <dc:creator>Ali Çağlar Koçer</dc:creator>
  <cp:lastModifiedBy>Ali Çağlar Koçer</cp:lastModifiedBy>
  <cp:revision>1</cp:revision>
  <dcterms:created xsi:type="dcterms:W3CDTF">2026-10-13T05:06:43Z</dcterms:created>
  <dcterms:modified xsi:type="dcterms:W3CDTF">2026-10-13T05:06:43Z</dcterms:modified>
</cp:coreProperties>
</file>